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710" r:id="rId2"/>
    <p:sldId id="712" r:id="rId3"/>
    <p:sldId id="714" r:id="rId4"/>
    <p:sldId id="713" r:id="rId5"/>
    <p:sldId id="716" r:id="rId6"/>
    <p:sldId id="648" r:id="rId7"/>
    <p:sldId id="71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34"/>
    <p:restoredTop sz="96327"/>
  </p:normalViewPr>
  <p:slideViewPr>
    <p:cSldViewPr snapToGrid="0">
      <p:cViewPr varScale="1">
        <p:scale>
          <a:sx n="124" d="100"/>
          <a:sy n="124" d="100"/>
        </p:scale>
        <p:origin x="3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8EECC-B5F4-214E-8A81-14FA34A9AC22}" type="datetimeFigureOut">
              <a:t>6/27/25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E34616-EEB0-F743-8550-E216C80C7AE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8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3421A-AA61-7044-95D6-995BDF362EB5}" type="slidenum">
              <a:rPr lang="en-CA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9947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BF203-A33D-72BC-8BC9-1FF309C7C1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E7F325-5BA9-C5F4-9281-524DE2481A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61888-B6B5-9132-47E2-3CCE0DA6A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55AB-7D89-1145-8D3B-BD542F3A6C1A}" type="datetimeFigureOut">
              <a:t>6/27/25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A6196-4154-1FE4-5F7E-7034271E7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93F0F-8A66-461E-C136-1031E03C3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89BA-4AF9-6B4D-A350-5882921FA8D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076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D6538-A527-6265-501C-938A34676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6027A-57D8-121E-2A5B-28E8AA1AC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D94DE-B032-822C-DCD6-69CFC046F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55AB-7D89-1145-8D3B-BD542F3A6C1A}" type="datetimeFigureOut">
              <a:t>6/27/25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67F4E-34DF-C3C9-74F6-430A9217E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A40A5-6335-DE7B-1DBE-6EB61CF10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89BA-4AF9-6B4D-A350-5882921FA8D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88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55DF9-07D9-7EAE-B5C3-80344AF78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365C2-A53C-27CD-5F3C-AF727B3B4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72D8D-A551-A246-C0AF-EB0744C78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55AB-7D89-1145-8D3B-BD542F3A6C1A}" type="datetimeFigureOut">
              <a:t>6/27/25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C5DF4-6B88-1140-B73F-95B3D8235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1C506-4D61-F0FE-987B-561EB883C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89BA-4AF9-6B4D-A350-5882921FA8D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454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7B9AF-3946-EF63-DBBE-252640857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342F3-70A1-1594-BA18-257EBD6B85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19F942-B508-E1C5-0547-6C3F0230C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0502F-2680-776E-9064-7D86B5467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55AB-7D89-1145-8D3B-BD542F3A6C1A}" type="datetimeFigureOut">
              <a:t>6/27/25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88EFB0-67B5-986A-1DEF-EFC26CE26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C9D17-F4C7-E270-2065-B8BC954DC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89BA-4AF9-6B4D-A350-5882921FA8D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057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95F04-6DAE-3609-FC10-21C1B2BB4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FBEDE-AAA7-18A3-070D-45B247AD6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E3DEDF-C095-4C27-2CA3-F6316812D3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935207-F5A4-E548-0D12-440322EBDD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22ACE0-0367-A982-1944-16BE2C7C6A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E5CD43-2F18-860E-8012-B29D840D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55AB-7D89-1145-8D3B-BD542F3A6C1A}" type="datetimeFigureOut">
              <a:t>6/27/25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635696-A066-22A6-8914-93BD6C507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21AAAB-3A85-8960-A77F-CE8F91932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89BA-4AF9-6B4D-A350-5882921FA8D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008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14F1-82B1-0A31-98CA-56BE6EEFD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0EB001-0E8F-E964-0EB0-DA4C4E2DA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55AB-7D89-1145-8D3B-BD542F3A6C1A}" type="datetimeFigureOut">
              <a:t>6/27/25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60154F-0ED6-D44C-859B-0DEAFA159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712BC3-31C1-3524-9904-8238A4F01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89BA-4AF9-6B4D-A350-5882921FA8D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80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85E447-7C0B-0D60-5E94-7D62AF4B8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55AB-7D89-1145-8D3B-BD542F3A6C1A}" type="datetimeFigureOut">
              <a:t>6/27/25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7C2FFA-29F1-6DB1-4891-1902CC71C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6C320-01A0-DC6E-535A-134ADCC4C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89BA-4AF9-6B4D-A350-5882921FA8D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14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A0D3E-C42E-8D4D-3C17-20768747D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6E18E-D66E-2E96-A342-DE112411C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00B2A4-2B9C-AEC8-4E63-FBB9DA54E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B3047E-F57B-8E9D-7094-8D41CC04E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55AB-7D89-1145-8D3B-BD542F3A6C1A}" type="datetimeFigureOut">
              <a:t>6/27/25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43D3BB-CCCA-14B6-F188-4E33587A8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30823-16F3-B799-FF02-1D13D3114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89BA-4AF9-6B4D-A350-5882921FA8D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3250C-D660-43F0-6C83-CB3BAD5CA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017F81-D01D-BA08-CD90-BEE49FEF2B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C43B99-146B-95BD-A609-A8D3F43FF6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C87D74-0282-9F69-1FD9-526D0EC60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55AB-7D89-1145-8D3B-BD542F3A6C1A}" type="datetimeFigureOut">
              <a:t>6/27/25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99FF6-D36E-8F59-C416-EED97ACF5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72081-ECC8-5661-2BD7-5DD1BFAD8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89BA-4AF9-6B4D-A350-5882921FA8D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66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CF9EC-D8F7-F805-B16F-E641B511E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DE956F-D840-60D5-A275-21A2B0E314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15BD8-AB3C-E4AC-BCF7-74691931F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55AB-7D89-1145-8D3B-BD542F3A6C1A}" type="datetimeFigureOut">
              <a:t>6/27/25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D4C9F-582C-B5F4-0679-EBE1FFA21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F4D2A-9E8A-13A7-C290-4A3437611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89BA-4AF9-6B4D-A350-5882921FA8D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82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02DB59-32C8-0907-D195-EB25B089F6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656EBF-322F-D115-8E36-2138EC8B7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6B2C4-9CDE-CACD-0BB9-A54B2CFF9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55AB-7D89-1145-8D3B-BD542F3A6C1A}" type="datetimeFigureOut">
              <a:t>6/27/25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DB416-406C-B404-BA71-2E6B6E986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9CB93-697F-4C99-F957-F67BDE04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89BA-4AF9-6B4D-A350-5882921FA8D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378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A3792E-4858-96AB-652D-43DAA0148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A2BA8E-7F8B-D13D-E7BC-A16A5C45A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10885-B59B-5F83-FDB9-8789EC81CE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FD55AB-7D89-1145-8D3B-BD542F3A6C1A}" type="datetimeFigureOut">
              <a:t>6/27/25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A5F05-F10F-F078-806C-50AD39D0E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6C26A-1378-B898-6688-4D7ACE4748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BC89BA-4AF9-6B4D-A350-5882921FA8D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115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3.png"/><Relationship Id="rId4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BB82CD-30A6-535B-5927-FF4826F04616}"/>
              </a:ext>
            </a:extLst>
          </p:cNvPr>
          <p:cNvSpPr/>
          <p:nvPr/>
        </p:nvSpPr>
        <p:spPr>
          <a:xfrm>
            <a:off x="111156" y="2266682"/>
            <a:ext cx="5940000" cy="180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B4EC61-681B-0FDD-48BF-2A4A797BBEFB}"/>
                  </a:ext>
                </a:extLst>
              </p:cNvPr>
              <p:cNvSpPr txBox="1"/>
              <p:nvPr/>
            </p:nvSpPr>
            <p:spPr>
              <a:xfrm>
                <a:off x="14092" y="2361932"/>
                <a:ext cx="6096000" cy="4196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sSup>
                        <m:sSupPr>
                          <m:ctrlPr>
                            <a:rPr lang="en-CA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CA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B4EC61-681B-0FDD-48BF-2A4A797BB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2" y="2361932"/>
                <a:ext cx="6096000" cy="4196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4D57A8-A9EE-9C0A-F4AB-64B7A01211F1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14092" y="3210704"/>
                <a:ext cx="6096000" cy="388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sSup>
                        <m:s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CA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4D57A8-A9EE-9C0A-F4AB-64B7A0121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2" y="3210704"/>
                <a:ext cx="6096000" cy="388761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99ED14-6381-1827-C3D9-EEF83AE32138}"/>
                  </a:ext>
                </a:extLst>
              </p:cNvPr>
              <p:cNvSpPr txBox="1"/>
              <p:nvPr/>
            </p:nvSpPr>
            <p:spPr>
              <a:xfrm>
                <a:off x="5986658" y="2361932"/>
                <a:ext cx="6096000" cy="8762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f>
                        <m:f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sSubSup>
                                <m:sSubSup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sSubSup>
                                <m:sSubSup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e>
                          </m:d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sSub>
                                <m:sSub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3,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fr-CA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b="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fr-CA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CA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CA" b="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fr-CA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CA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p>
                                          <m:r>
                                            <a:rPr lang="fr-CA" b="0" i="1">
                                              <a:latin typeface="Cambria Math" panose="02040503050406030204" pitchFamily="18" charset="0"/>
                                            </a:rPr>
                                            <m:t>𝑐h𝑙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fr-CA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CA" b="0" i="1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 lang="fr-CA" b="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fr-CA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num>
                                    <m:den>
                                      <m:sSubSup>
                                        <m:sSubSupPr>
                                          <m:ctrlPr>
                                            <a:rPr lang="fr-CA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fr-CA" b="0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fr-CA" b="0" i="1">
                                              <a:latin typeface="Cambria Math" panose="02040503050406030204" pitchFamily="18" charset="0"/>
                                            </a:rPr>
                                            <m:t>𝑚𝑎𝑥</m:t>
                                          </m:r>
                                          <m:r>
                                            <a:rPr lang="fr-CA" b="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fr-CA" b="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sub>
                                        <m:sup>
                                          <m:r>
                                            <a:rPr lang="fr-CA" b="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sup>
                                      </m:sSubSup>
                                      <m:sSubSup>
                                        <m:sSubSupPr>
                                          <m:ctrlPr>
                                            <a:rPr lang="fr-CA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fr-CA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  <m:sub>
                                          <m:r>
                                            <a:rPr lang="en-CA" b="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sub>
                                        <m:sup>
                                          <m:r>
                                            <a:rPr lang="en-CA" b="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sup>
                                      </m:sSubSup>
                                      <m:sSup>
                                        <m:sSupPr>
                                          <m:ctrlPr>
                                            <a:rPr lang="fr-CA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CA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  <m:sup>
                                          <m:r>
                                            <a:rPr lang="fr-CA" b="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sup>
                          </m:sSup>
                        </m:e>
                      </m:d>
                      <m:r>
                        <a:rPr lang="en-CA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99ED14-6381-1827-C3D9-EEF83AE32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658" y="2361932"/>
                <a:ext cx="6096000" cy="8762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C346E5-30CE-E761-8265-4E8B93F2DF75}"/>
                  </a:ext>
                </a:extLst>
              </p:cNvPr>
              <p:cNvSpPr txBox="1"/>
              <p:nvPr/>
            </p:nvSpPr>
            <p:spPr>
              <a:xfrm>
                <a:off x="5986658" y="3210704"/>
                <a:ext cx="6003909" cy="875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f>
                        <m:f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sSubSup>
                                <m:sSubSup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sSubSup>
                                <m:sSubSup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e>
                          </m:d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sSub>
                                <m:sSub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3,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i="1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fr-CA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fr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CA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fr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CA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p>
                                          <m:r>
                                            <a:rPr lang="fr-CA" i="1">
                                              <a:latin typeface="Cambria Math" panose="02040503050406030204" pitchFamily="18" charset="0"/>
                                            </a:rPr>
                                            <m:t>𝑐h𝑙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fr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CA" i="1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 lang="fr-CA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fr-CA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num>
                                    <m:den>
                                      <m:sSubSup>
                                        <m:sSubSupPr>
                                          <m:ctrlPr>
                                            <a:rPr lang="fr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fr-CA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fr-CA" i="1">
                                              <a:latin typeface="Cambria Math" panose="02040503050406030204" pitchFamily="18" charset="0"/>
                                            </a:rPr>
                                            <m:t>𝑚𝑎𝑥</m:t>
                                          </m:r>
                                          <m:r>
                                            <a:rPr lang="fr-CA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fr-CA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sub>
                                        <m:sup>
                                          <m:r>
                                            <a:rPr lang="fr-CA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sup>
                                      </m:sSubSup>
                                      <m:sSubSup>
                                        <m:sSubSupPr>
                                          <m:ctrlPr>
                                            <a:rPr lang="fr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fr-CA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  <m:sub>
                                          <m:r>
                                            <a:rPr lang="en-CA" b="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  <m:sup>
                                          <m:r>
                                            <a:rPr lang="en-CA" b="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sup>
                                      </m:sSubSup>
                                      <m:sSup>
                                        <m:sSupPr>
                                          <m:ctrlPr>
                                            <a:rPr lang="fr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CA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  <m:sup>
                                          <m:r>
                                            <a:rPr lang="fr-CA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sup>
                          </m:sSup>
                        </m:e>
                      </m:d>
                      <m:r>
                        <a:rPr lang="en-CA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C346E5-30CE-E761-8265-4E8B93F2D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658" y="3210704"/>
                <a:ext cx="6003909" cy="8753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A5886C77-186C-1454-A082-BD8607617FA6}"/>
              </a:ext>
            </a:extLst>
          </p:cNvPr>
          <p:cNvSpPr/>
          <p:nvPr/>
        </p:nvSpPr>
        <p:spPr>
          <a:xfrm>
            <a:off x="6050568" y="2268770"/>
            <a:ext cx="5940000" cy="180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815D4C-A69D-02B2-E957-9692CC2B17D5}"/>
              </a:ext>
            </a:extLst>
          </p:cNvPr>
          <p:cNvSpPr/>
          <p:nvPr/>
        </p:nvSpPr>
        <p:spPr>
          <a:xfrm>
            <a:off x="111600" y="490078"/>
            <a:ext cx="5940000" cy="72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0FFA27-C61F-692E-A1AE-C60B1A1AE226}"/>
              </a:ext>
            </a:extLst>
          </p:cNvPr>
          <p:cNvSpPr txBox="1"/>
          <p:nvPr/>
        </p:nvSpPr>
        <p:spPr>
          <a:xfrm>
            <a:off x="2449055" y="665412"/>
            <a:ext cx="126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Si+ N+ L+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19F95E-8BC8-2E41-5A3C-D2503EA0E9A0}"/>
              </a:ext>
            </a:extLst>
          </p:cNvPr>
          <p:cNvSpPr/>
          <p:nvPr/>
        </p:nvSpPr>
        <p:spPr>
          <a:xfrm>
            <a:off x="6040130" y="490078"/>
            <a:ext cx="5940000" cy="72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91F7F8-FA21-E4BE-9C23-954BA1F3BD98}"/>
              </a:ext>
            </a:extLst>
          </p:cNvPr>
          <p:cNvSpPr txBox="1"/>
          <p:nvPr/>
        </p:nvSpPr>
        <p:spPr>
          <a:xfrm>
            <a:off x="8473765" y="665412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Si+ N- L-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A4D450-0F1D-2A73-42DF-245B3259022A}"/>
              </a:ext>
            </a:extLst>
          </p:cNvPr>
          <p:cNvCxnSpPr>
            <a:cxnSpLocks/>
          </p:cNvCxnSpPr>
          <p:nvPr/>
        </p:nvCxnSpPr>
        <p:spPr>
          <a:xfrm>
            <a:off x="6049288" y="1327759"/>
            <a:ext cx="0" cy="72000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6872EEC-3EAA-E79D-8398-BF1C465C17E9}"/>
              </a:ext>
            </a:extLst>
          </p:cNvPr>
          <p:cNvSpPr txBox="1"/>
          <p:nvPr/>
        </p:nvSpPr>
        <p:spPr>
          <a:xfrm>
            <a:off x="5149363" y="21399"/>
            <a:ext cx="189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Nutrient regime I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074A0C-D98A-AEDF-2945-8299600E0435}"/>
              </a:ext>
            </a:extLst>
          </p:cNvPr>
          <p:cNvSpPr/>
          <p:nvPr/>
        </p:nvSpPr>
        <p:spPr>
          <a:xfrm>
            <a:off x="111600" y="4989000"/>
            <a:ext cx="5940000" cy="144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00F2B30-BEBC-C6D4-4E87-4D0D7E7F7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2800" y="5349000"/>
            <a:ext cx="7776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946B7C1-2568-1C55-4EC5-109B7E5C9BAC}"/>
              </a:ext>
            </a:extLst>
          </p:cNvPr>
          <p:cNvSpPr/>
          <p:nvPr/>
        </p:nvSpPr>
        <p:spPr>
          <a:xfrm>
            <a:off x="6051600" y="4991088"/>
            <a:ext cx="5940000" cy="144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p:pic>
        <p:nvPicPr>
          <p:cNvPr id="27" name="Picture 4">
            <a:extLst>
              <a:ext uri="{FF2B5EF4-FFF2-40B4-BE49-F238E27FC236}">
                <a16:creationId xmlns:a16="http://schemas.microsoft.com/office/drawing/2014/main" id="{2EA2833E-2747-AAAB-9C67-D31E1DDF2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9305" y="5351088"/>
            <a:ext cx="68459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7233B41-3A23-DB02-71A6-D885BBDE6E97}"/>
              </a:ext>
            </a:extLst>
          </p:cNvPr>
          <p:cNvCxnSpPr>
            <a:cxnSpLocks/>
          </p:cNvCxnSpPr>
          <p:nvPr/>
        </p:nvCxnSpPr>
        <p:spPr>
          <a:xfrm>
            <a:off x="6051376" y="4173249"/>
            <a:ext cx="0" cy="72000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4" name="Oval 1073">
            <a:extLst>
              <a:ext uri="{FF2B5EF4-FFF2-40B4-BE49-F238E27FC236}">
                <a16:creationId xmlns:a16="http://schemas.microsoft.com/office/drawing/2014/main" id="{A592A8A9-F967-C1CA-DE02-43C633837CA5}"/>
              </a:ext>
            </a:extLst>
          </p:cNvPr>
          <p:cNvSpPr/>
          <p:nvPr/>
        </p:nvSpPr>
        <p:spPr>
          <a:xfrm>
            <a:off x="6110092" y="3230749"/>
            <a:ext cx="5870038" cy="920909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0E977AB-CA24-B7A4-DEE8-7B4522E8EFA2}"/>
              </a:ext>
            </a:extLst>
          </p:cNvPr>
          <p:cNvSpPr/>
          <p:nvPr/>
        </p:nvSpPr>
        <p:spPr>
          <a:xfrm>
            <a:off x="1803748" y="2047759"/>
            <a:ext cx="2563076" cy="920909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16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BB82CD-30A6-535B-5927-FF4826F04616}"/>
              </a:ext>
            </a:extLst>
          </p:cNvPr>
          <p:cNvSpPr/>
          <p:nvPr/>
        </p:nvSpPr>
        <p:spPr>
          <a:xfrm>
            <a:off x="111156" y="2266682"/>
            <a:ext cx="5940000" cy="180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B4EC61-681B-0FDD-48BF-2A4A797BBEFB}"/>
                  </a:ext>
                </a:extLst>
              </p:cNvPr>
              <p:cNvSpPr txBox="1"/>
              <p:nvPr/>
            </p:nvSpPr>
            <p:spPr>
              <a:xfrm>
                <a:off x="14092" y="2361932"/>
                <a:ext cx="6096000" cy="4050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sSup>
                        <m:s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CA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B4EC61-681B-0FDD-48BF-2A4A797BB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2" y="2361932"/>
                <a:ext cx="6096000" cy="405047"/>
              </a:xfrm>
              <a:prstGeom prst="rect">
                <a:avLst/>
              </a:prstGeom>
              <a:blipFill>
                <a:blip r:embed="rId2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4D57A8-A9EE-9C0A-F4AB-64B7A01211F1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14092" y="3210704"/>
                <a:ext cx="6096000" cy="388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sSup>
                        <m:s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CA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4D57A8-A9EE-9C0A-F4AB-64B7A0121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2" y="3210704"/>
                <a:ext cx="6096000" cy="388761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99ED14-6381-1827-C3D9-EEF83AE32138}"/>
                  </a:ext>
                </a:extLst>
              </p:cNvPr>
              <p:cNvSpPr txBox="1"/>
              <p:nvPr/>
            </p:nvSpPr>
            <p:spPr>
              <a:xfrm>
                <a:off x="5986658" y="2361932"/>
                <a:ext cx="6096000" cy="4050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sSup>
                        <m:s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CA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99ED14-6381-1827-C3D9-EEF83AE32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658" y="2361932"/>
                <a:ext cx="6096000" cy="405047"/>
              </a:xfrm>
              <a:prstGeom prst="rect">
                <a:avLst/>
              </a:prstGeom>
              <a:blipFill>
                <a:blip r:embed="rId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C346E5-30CE-E761-8265-4E8B93F2DF75}"/>
                  </a:ext>
                </a:extLst>
              </p:cNvPr>
              <p:cNvSpPr txBox="1"/>
              <p:nvPr/>
            </p:nvSpPr>
            <p:spPr>
              <a:xfrm>
                <a:off x="5986658" y="3210704"/>
                <a:ext cx="6096000" cy="388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sSup>
                        <m:s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CA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C346E5-30CE-E761-8265-4E8B93F2D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658" y="3210704"/>
                <a:ext cx="6096000" cy="388761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A5886C77-186C-1454-A082-BD8607617FA6}"/>
              </a:ext>
            </a:extLst>
          </p:cNvPr>
          <p:cNvSpPr/>
          <p:nvPr/>
        </p:nvSpPr>
        <p:spPr>
          <a:xfrm>
            <a:off x="6050568" y="2268770"/>
            <a:ext cx="5940000" cy="180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815D4C-A69D-02B2-E957-9692CC2B17D5}"/>
              </a:ext>
            </a:extLst>
          </p:cNvPr>
          <p:cNvSpPr/>
          <p:nvPr/>
        </p:nvSpPr>
        <p:spPr>
          <a:xfrm>
            <a:off x="111600" y="490078"/>
            <a:ext cx="5940000" cy="72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0FFA27-C61F-692E-A1AE-C60B1A1AE226}"/>
              </a:ext>
            </a:extLst>
          </p:cNvPr>
          <p:cNvSpPr txBox="1"/>
          <p:nvPr/>
        </p:nvSpPr>
        <p:spPr>
          <a:xfrm>
            <a:off x="2449055" y="665412"/>
            <a:ext cx="126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Si+ N+ L+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19F95E-8BC8-2E41-5A3C-D2503EA0E9A0}"/>
              </a:ext>
            </a:extLst>
          </p:cNvPr>
          <p:cNvSpPr/>
          <p:nvPr/>
        </p:nvSpPr>
        <p:spPr>
          <a:xfrm>
            <a:off x="6040130" y="490078"/>
            <a:ext cx="5940000" cy="72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91F7F8-FA21-E4BE-9C23-954BA1F3BD98}"/>
              </a:ext>
            </a:extLst>
          </p:cNvPr>
          <p:cNvSpPr txBox="1"/>
          <p:nvPr/>
        </p:nvSpPr>
        <p:spPr>
          <a:xfrm>
            <a:off x="8377585" y="665412"/>
            <a:ext cx="126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Si+ N+ L+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A4D450-0F1D-2A73-42DF-245B3259022A}"/>
              </a:ext>
            </a:extLst>
          </p:cNvPr>
          <p:cNvCxnSpPr>
            <a:cxnSpLocks/>
          </p:cNvCxnSpPr>
          <p:nvPr/>
        </p:nvCxnSpPr>
        <p:spPr>
          <a:xfrm>
            <a:off x="6049288" y="1327759"/>
            <a:ext cx="0" cy="72000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6872EEC-3EAA-E79D-8398-BF1C465C17E9}"/>
              </a:ext>
            </a:extLst>
          </p:cNvPr>
          <p:cNvSpPr txBox="1"/>
          <p:nvPr/>
        </p:nvSpPr>
        <p:spPr>
          <a:xfrm>
            <a:off x="4713346" y="21399"/>
            <a:ext cx="276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Nutrient regimes II and III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074A0C-D98A-AEDF-2945-8299600E0435}"/>
              </a:ext>
            </a:extLst>
          </p:cNvPr>
          <p:cNvSpPr/>
          <p:nvPr/>
        </p:nvSpPr>
        <p:spPr>
          <a:xfrm>
            <a:off x="111600" y="4989000"/>
            <a:ext cx="5940000" cy="144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00F2B30-BEBC-C6D4-4E87-4D0D7E7F7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2800" y="5349000"/>
            <a:ext cx="7776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946B7C1-2568-1C55-4EC5-109B7E5C9BAC}"/>
              </a:ext>
            </a:extLst>
          </p:cNvPr>
          <p:cNvSpPr/>
          <p:nvPr/>
        </p:nvSpPr>
        <p:spPr>
          <a:xfrm>
            <a:off x="6051600" y="4991088"/>
            <a:ext cx="5940000" cy="144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7233B41-3A23-DB02-71A6-D885BBDE6E97}"/>
              </a:ext>
            </a:extLst>
          </p:cNvPr>
          <p:cNvCxnSpPr>
            <a:cxnSpLocks/>
          </p:cNvCxnSpPr>
          <p:nvPr/>
        </p:nvCxnSpPr>
        <p:spPr>
          <a:xfrm>
            <a:off x="6051376" y="4173249"/>
            <a:ext cx="0" cy="72000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3" name="Oval 1072">
            <a:extLst>
              <a:ext uri="{FF2B5EF4-FFF2-40B4-BE49-F238E27FC236}">
                <a16:creationId xmlns:a16="http://schemas.microsoft.com/office/drawing/2014/main" id="{E20DA7AD-6C36-AA29-3237-5F3862D69A13}"/>
              </a:ext>
            </a:extLst>
          </p:cNvPr>
          <p:cNvSpPr/>
          <p:nvPr/>
        </p:nvSpPr>
        <p:spPr>
          <a:xfrm>
            <a:off x="1803748" y="2047759"/>
            <a:ext cx="2563076" cy="920909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4671379-8794-D06C-8379-B4A836C5E2AB}"/>
              </a:ext>
            </a:extLst>
          </p:cNvPr>
          <p:cNvSpPr/>
          <p:nvPr/>
        </p:nvSpPr>
        <p:spPr>
          <a:xfrm>
            <a:off x="7542744" y="2062373"/>
            <a:ext cx="2563076" cy="920909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68B553-B172-51BC-221E-87FC58E5B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2800" y="5351088"/>
            <a:ext cx="7776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2158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BB82CD-30A6-535B-5927-FF4826F04616}"/>
              </a:ext>
            </a:extLst>
          </p:cNvPr>
          <p:cNvSpPr/>
          <p:nvPr/>
        </p:nvSpPr>
        <p:spPr>
          <a:xfrm>
            <a:off x="111156" y="2266682"/>
            <a:ext cx="5940000" cy="180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B4EC61-681B-0FDD-48BF-2A4A797BBEFB}"/>
                  </a:ext>
                </a:extLst>
              </p:cNvPr>
              <p:cNvSpPr txBox="1"/>
              <p:nvPr/>
            </p:nvSpPr>
            <p:spPr>
              <a:xfrm>
                <a:off x="14092" y="2361932"/>
                <a:ext cx="6096000" cy="4050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sSup>
                        <m:s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CA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B4EC61-681B-0FDD-48BF-2A4A797BB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2" y="2361932"/>
                <a:ext cx="6096000" cy="405047"/>
              </a:xfrm>
              <a:prstGeom prst="rect">
                <a:avLst/>
              </a:prstGeom>
              <a:blipFill>
                <a:blip r:embed="rId2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4D57A8-A9EE-9C0A-F4AB-64B7A01211F1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14092" y="3210704"/>
                <a:ext cx="6096000" cy="388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sSup>
                        <m:s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CA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4D57A8-A9EE-9C0A-F4AB-64B7A0121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2" y="3210704"/>
                <a:ext cx="6096000" cy="388761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99ED14-6381-1827-C3D9-EEF83AE32138}"/>
                  </a:ext>
                </a:extLst>
              </p:cNvPr>
              <p:cNvSpPr txBox="1"/>
              <p:nvPr/>
            </p:nvSpPr>
            <p:spPr>
              <a:xfrm>
                <a:off x="5986658" y="2361932"/>
                <a:ext cx="6096000" cy="7416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f>
                        <m:f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𝑆𝑖</m:t>
                              </m:r>
                              <m:sSub>
                                <m:sSub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𝑂𝐻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𝑆𝑖</m:t>
                              </m:r>
                              <m:sSub>
                                <m:sSub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𝑂𝐻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𝑆𝑖</m:t>
                                  </m:r>
                                  <m:d>
                                    <m:d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𝑂𝐻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4,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CA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99ED14-6381-1827-C3D9-EEF83AE32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658" y="2361932"/>
                <a:ext cx="6096000" cy="7416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C346E5-30CE-E761-8265-4E8B93F2DF75}"/>
                  </a:ext>
                </a:extLst>
              </p:cNvPr>
              <p:cNvSpPr txBox="1"/>
              <p:nvPr/>
            </p:nvSpPr>
            <p:spPr>
              <a:xfrm>
                <a:off x="5986658" y="3210704"/>
                <a:ext cx="6096000" cy="388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sSup>
                        <m:s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CA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C346E5-30CE-E761-8265-4E8B93F2D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658" y="3210704"/>
                <a:ext cx="6096000" cy="388761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A5886C77-186C-1454-A082-BD8607617FA6}"/>
              </a:ext>
            </a:extLst>
          </p:cNvPr>
          <p:cNvSpPr/>
          <p:nvPr/>
        </p:nvSpPr>
        <p:spPr>
          <a:xfrm>
            <a:off x="6050568" y="2268770"/>
            <a:ext cx="5940000" cy="180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815D4C-A69D-02B2-E957-9692CC2B17D5}"/>
              </a:ext>
            </a:extLst>
          </p:cNvPr>
          <p:cNvSpPr/>
          <p:nvPr/>
        </p:nvSpPr>
        <p:spPr>
          <a:xfrm>
            <a:off x="111600" y="490078"/>
            <a:ext cx="5940000" cy="72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0FFA27-C61F-692E-A1AE-C60B1A1AE226}"/>
              </a:ext>
            </a:extLst>
          </p:cNvPr>
          <p:cNvSpPr txBox="1"/>
          <p:nvPr/>
        </p:nvSpPr>
        <p:spPr>
          <a:xfrm>
            <a:off x="2449055" y="665412"/>
            <a:ext cx="126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Si+ N+ L+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19F95E-8BC8-2E41-5A3C-D2503EA0E9A0}"/>
              </a:ext>
            </a:extLst>
          </p:cNvPr>
          <p:cNvSpPr/>
          <p:nvPr/>
        </p:nvSpPr>
        <p:spPr>
          <a:xfrm>
            <a:off x="6040130" y="490078"/>
            <a:ext cx="5940000" cy="72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91F7F8-FA21-E4BE-9C23-954BA1F3BD98}"/>
              </a:ext>
            </a:extLst>
          </p:cNvPr>
          <p:cNvSpPr txBox="1"/>
          <p:nvPr/>
        </p:nvSpPr>
        <p:spPr>
          <a:xfrm>
            <a:off x="8425675" y="665412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Si- N+ L+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A4D450-0F1D-2A73-42DF-245B3259022A}"/>
              </a:ext>
            </a:extLst>
          </p:cNvPr>
          <p:cNvCxnSpPr>
            <a:cxnSpLocks/>
          </p:cNvCxnSpPr>
          <p:nvPr/>
        </p:nvCxnSpPr>
        <p:spPr>
          <a:xfrm>
            <a:off x="6049288" y="1327759"/>
            <a:ext cx="0" cy="72000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6872EEC-3EAA-E79D-8398-BF1C465C17E9}"/>
              </a:ext>
            </a:extLst>
          </p:cNvPr>
          <p:cNvSpPr txBox="1"/>
          <p:nvPr/>
        </p:nvSpPr>
        <p:spPr>
          <a:xfrm>
            <a:off x="5079632" y="21399"/>
            <a:ext cx="2032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Nutrient regime IV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074A0C-D98A-AEDF-2945-8299600E0435}"/>
              </a:ext>
            </a:extLst>
          </p:cNvPr>
          <p:cNvSpPr/>
          <p:nvPr/>
        </p:nvSpPr>
        <p:spPr>
          <a:xfrm>
            <a:off x="111600" y="4989000"/>
            <a:ext cx="5940000" cy="144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46B7C1-2568-1C55-4EC5-109B7E5C9BAC}"/>
              </a:ext>
            </a:extLst>
          </p:cNvPr>
          <p:cNvSpPr/>
          <p:nvPr/>
        </p:nvSpPr>
        <p:spPr>
          <a:xfrm>
            <a:off x="6051600" y="4991088"/>
            <a:ext cx="5940000" cy="144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7233B41-3A23-DB02-71A6-D885BBDE6E97}"/>
              </a:ext>
            </a:extLst>
          </p:cNvPr>
          <p:cNvCxnSpPr>
            <a:cxnSpLocks/>
          </p:cNvCxnSpPr>
          <p:nvPr/>
        </p:nvCxnSpPr>
        <p:spPr>
          <a:xfrm>
            <a:off x="6051376" y="4173249"/>
            <a:ext cx="0" cy="72000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EF7BF799-11C2-C1F1-8CE8-65190130326B}"/>
              </a:ext>
            </a:extLst>
          </p:cNvPr>
          <p:cNvSpPr/>
          <p:nvPr/>
        </p:nvSpPr>
        <p:spPr>
          <a:xfrm>
            <a:off x="1803748" y="2047759"/>
            <a:ext cx="2563076" cy="920909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E5004F7-6AC1-7FCC-FB60-8CCB7E1317EF}"/>
              </a:ext>
            </a:extLst>
          </p:cNvPr>
          <p:cNvSpPr/>
          <p:nvPr/>
        </p:nvSpPr>
        <p:spPr>
          <a:xfrm>
            <a:off x="7793264" y="3026875"/>
            <a:ext cx="2563076" cy="920909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671F064-085A-8AF7-2BFE-80BC5B97E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2800" y="5349000"/>
            <a:ext cx="7776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7A1413A1-74E8-1857-4847-EC4B89A28E71}"/>
              </a:ext>
            </a:extLst>
          </p:cNvPr>
          <p:cNvGrpSpPr>
            <a:grpSpLocks noChangeAspect="1"/>
          </p:cNvGrpSpPr>
          <p:nvPr/>
        </p:nvGrpSpPr>
        <p:grpSpPr>
          <a:xfrm>
            <a:off x="8743224" y="5351088"/>
            <a:ext cx="556753" cy="720000"/>
            <a:chOff x="6143845" y="2294862"/>
            <a:chExt cx="421760" cy="545425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31D9038-6224-7536-9977-5698C67250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72200" y="2300287"/>
              <a:ext cx="339588" cy="540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7B955DA-FC3A-75EE-437F-906C1B2A23A4}"/>
                </a:ext>
              </a:extLst>
            </p:cNvPr>
            <p:cNvSpPr/>
            <p:nvPr/>
          </p:nvSpPr>
          <p:spPr>
            <a:xfrm>
              <a:off x="6145618" y="2413590"/>
              <a:ext cx="419987" cy="7974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9A8E139-48C3-3329-0C66-D726BF0649BF}"/>
                </a:ext>
              </a:extLst>
            </p:cNvPr>
            <p:cNvSpPr/>
            <p:nvPr/>
          </p:nvSpPr>
          <p:spPr>
            <a:xfrm>
              <a:off x="6143845" y="2294862"/>
              <a:ext cx="419987" cy="7974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228DEAEE-6C52-7A65-B446-AF76787CD156}"/>
                </a:ext>
              </a:extLst>
            </p:cNvPr>
            <p:cNvSpPr/>
            <p:nvPr/>
          </p:nvSpPr>
          <p:spPr>
            <a:xfrm rot="5400000">
              <a:off x="6170427" y="2534093"/>
              <a:ext cx="419987" cy="7974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6BF76EC-570B-4671-4EBC-725205301EDB}"/>
                </a:ext>
              </a:extLst>
            </p:cNvPr>
            <p:cNvSpPr/>
            <p:nvPr/>
          </p:nvSpPr>
          <p:spPr>
            <a:xfrm>
              <a:off x="6225363" y="2530549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C06CC7D-829A-BDC4-C89D-14F2D5E761F0}"/>
                </a:ext>
              </a:extLst>
            </p:cNvPr>
            <p:cNvSpPr/>
            <p:nvPr/>
          </p:nvSpPr>
          <p:spPr>
            <a:xfrm>
              <a:off x="6207641" y="2581939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1DCCB6C-22CB-6E7A-23F8-F69FAA55B91D}"/>
                </a:ext>
              </a:extLst>
            </p:cNvPr>
            <p:cNvSpPr/>
            <p:nvPr/>
          </p:nvSpPr>
          <p:spPr>
            <a:xfrm>
              <a:off x="6285615" y="2553587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2121193C-E8D2-DCEA-3213-540D11370262}"/>
                </a:ext>
              </a:extLst>
            </p:cNvPr>
            <p:cNvSpPr/>
            <p:nvPr/>
          </p:nvSpPr>
          <p:spPr>
            <a:xfrm>
              <a:off x="6259031" y="2601431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8E09ABF4-94E1-78A3-788A-38610DBFDC83}"/>
                </a:ext>
              </a:extLst>
            </p:cNvPr>
            <p:cNvSpPr/>
            <p:nvPr/>
          </p:nvSpPr>
          <p:spPr>
            <a:xfrm>
              <a:off x="6220045" y="2652822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78B93EFD-BE6E-54C3-B318-C0C95B92D071}"/>
                </a:ext>
              </a:extLst>
            </p:cNvPr>
            <p:cNvSpPr/>
            <p:nvPr/>
          </p:nvSpPr>
          <p:spPr>
            <a:xfrm>
              <a:off x="6287384" y="2640417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DC92B2D-CB71-5850-3D87-3524FC6A9BC2}"/>
                </a:ext>
              </a:extLst>
            </p:cNvPr>
            <p:cNvSpPr/>
            <p:nvPr/>
          </p:nvSpPr>
          <p:spPr>
            <a:xfrm>
              <a:off x="6248398" y="2697124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923235EF-9496-810A-1395-77F43C542AE5}"/>
                </a:ext>
              </a:extLst>
            </p:cNvPr>
            <p:cNvSpPr/>
            <p:nvPr/>
          </p:nvSpPr>
          <p:spPr>
            <a:xfrm>
              <a:off x="6278523" y="2727249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B3B91472-86A2-104D-AFDE-CC922EC1B0A7}"/>
                </a:ext>
              </a:extLst>
            </p:cNvPr>
            <p:cNvSpPr/>
            <p:nvPr/>
          </p:nvSpPr>
          <p:spPr>
            <a:xfrm>
              <a:off x="6436239" y="2496876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D09270D4-4252-C284-330B-06D86C85B6BF}"/>
                </a:ext>
              </a:extLst>
            </p:cNvPr>
            <p:cNvSpPr/>
            <p:nvPr/>
          </p:nvSpPr>
          <p:spPr>
            <a:xfrm>
              <a:off x="6445100" y="2569532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9F2A6787-2A38-E14A-6897-B078E13FCEB2}"/>
                </a:ext>
              </a:extLst>
            </p:cNvPr>
            <p:cNvSpPr/>
            <p:nvPr/>
          </p:nvSpPr>
          <p:spPr>
            <a:xfrm>
              <a:off x="6432695" y="2604974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C0E1C0E-920F-E31F-B4E8-CB199FEA56B9}"/>
                </a:ext>
              </a:extLst>
            </p:cNvPr>
            <p:cNvSpPr/>
            <p:nvPr/>
          </p:nvSpPr>
          <p:spPr>
            <a:xfrm>
              <a:off x="6441555" y="2672313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6FA65DFA-7CDD-9C98-009D-812B706505C1}"/>
                </a:ext>
              </a:extLst>
            </p:cNvPr>
            <p:cNvSpPr/>
            <p:nvPr/>
          </p:nvSpPr>
          <p:spPr>
            <a:xfrm>
              <a:off x="6450415" y="2755601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D3177CE8-F316-2381-D6E9-5107F375F5D9}"/>
                </a:ext>
              </a:extLst>
            </p:cNvPr>
            <p:cNvSpPr/>
            <p:nvPr/>
          </p:nvSpPr>
          <p:spPr>
            <a:xfrm>
              <a:off x="6282068" y="2363970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C5C78727-E28C-8B8E-3D2C-DDB433082BCF}"/>
                </a:ext>
              </a:extLst>
            </p:cNvPr>
            <p:cNvSpPr/>
            <p:nvPr/>
          </p:nvSpPr>
          <p:spPr>
            <a:xfrm>
              <a:off x="6290928" y="2431309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9202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BB82CD-30A6-535B-5927-FF4826F04616}"/>
              </a:ext>
            </a:extLst>
          </p:cNvPr>
          <p:cNvSpPr/>
          <p:nvPr/>
        </p:nvSpPr>
        <p:spPr>
          <a:xfrm>
            <a:off x="111156" y="2266682"/>
            <a:ext cx="5940000" cy="180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B4EC61-681B-0FDD-48BF-2A4A797BBEFB}"/>
                  </a:ext>
                </a:extLst>
              </p:cNvPr>
              <p:cNvSpPr txBox="1"/>
              <p:nvPr/>
            </p:nvSpPr>
            <p:spPr>
              <a:xfrm>
                <a:off x="14092" y="2361932"/>
                <a:ext cx="6096000" cy="4050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sSup>
                        <m:s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CA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B4EC61-681B-0FDD-48BF-2A4A797BB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2" y="2361932"/>
                <a:ext cx="6096000" cy="405047"/>
              </a:xfrm>
              <a:prstGeom prst="rect">
                <a:avLst/>
              </a:prstGeom>
              <a:blipFill>
                <a:blip r:embed="rId2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4D57A8-A9EE-9C0A-F4AB-64B7A01211F1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14092" y="3210704"/>
                <a:ext cx="6096000" cy="388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sSup>
                        <m:s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CA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4D57A8-A9EE-9C0A-F4AB-64B7A0121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2" y="3210704"/>
                <a:ext cx="6096000" cy="388761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99ED14-6381-1827-C3D9-EEF83AE32138}"/>
                  </a:ext>
                </a:extLst>
              </p:cNvPr>
              <p:cNvSpPr txBox="1"/>
              <p:nvPr/>
            </p:nvSpPr>
            <p:spPr>
              <a:xfrm>
                <a:off x="5986658" y="2361932"/>
                <a:ext cx="6096000" cy="658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sz="1300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1300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CA" sz="1300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CA" sz="13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1300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CA" sz="13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CA" sz="1300" b="0" i="0">
                          <a:latin typeface="Cambria Math" panose="02040503050406030204" pitchFamily="18" charset="0"/>
                        </a:rPr>
                        <m:t>min</m:t>
                      </m:r>
                      <m:d>
                        <m:dPr>
                          <m:ctrlPr>
                            <a:rPr lang="en-CA" sz="13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CA" sz="13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1300" b="0" i="1">
                                      <a:latin typeface="Cambria Math" panose="02040503050406030204" pitchFamily="18" charset="0"/>
                                    </a:rPr>
                                    <m:t>𝑆𝑖</m:t>
                                  </m:r>
                                  <m:sSub>
                                    <m:sSubPr>
                                      <m:ctrlPr>
                                        <a:rPr lang="en-CA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CA" sz="13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sz="1300" b="0" i="1">
                                              <a:latin typeface="Cambria Math" panose="02040503050406030204" pitchFamily="18" charset="0"/>
                                            </a:rPr>
                                            <m:t>𝑂𝐻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CA" sz="1300" b="0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1300" b="0" i="1">
                                      <a:latin typeface="Cambria Math" panose="02040503050406030204" pitchFamily="18" charset="0"/>
                                    </a:rPr>
                                    <m:t>𝑆𝑖</m:t>
                                  </m:r>
                                  <m:sSub>
                                    <m:sSubPr>
                                      <m:ctrlPr>
                                        <a:rPr lang="en-CA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CA" sz="13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sz="1300" b="0" i="1">
                                              <a:latin typeface="Cambria Math" panose="02040503050406030204" pitchFamily="18" charset="0"/>
                                            </a:rPr>
                                            <m:t>𝑂𝐻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CA" sz="1300" b="0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CA" sz="1300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A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300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CA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sz="1300" b="0" i="1">
                                          <a:latin typeface="Cambria Math" panose="02040503050406030204" pitchFamily="18" charset="0"/>
                                        </a:rPr>
                                        <m:t>𝑆𝑖</m:t>
                                      </m:r>
                                      <m:d>
                                        <m:dPr>
                                          <m:ctrlPr>
                                            <a:rPr lang="en-CA" sz="13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sz="1300" b="0" i="1">
                                              <a:latin typeface="Cambria Math" panose="02040503050406030204" pitchFamily="18" charset="0"/>
                                            </a:rPr>
                                            <m:t>𝑂𝐻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CA" sz="1300" b="0" i="1">
                                          <a:latin typeface="Cambria Math" panose="02040503050406030204" pitchFamily="18" charset="0"/>
                                        </a:rPr>
                                        <m:t>4,</m:t>
                                      </m:r>
                                      <m:r>
                                        <a:rPr lang="en-CA" sz="1300" b="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  <m:r>
                            <a:rPr lang="en-CA" sz="13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CA" sz="13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1300" b="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sSubSup>
                                    <m:sSubSupPr>
                                      <m:ctrlPr>
                                        <a:rPr lang="en-CA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CA" sz="1300" b="0" i="1">
                                          <a:latin typeface="Cambria Math" panose="02040503050406030204" pitchFamily="18" charset="0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en-CA" sz="1300" b="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en-CA" sz="1300" b="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sup>
                                  </m:sSubSup>
                                </m:e>
                              </m:d>
                            </m:num>
                            <m:den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1300" b="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sSubSup>
                                    <m:sSubSupPr>
                                      <m:ctrlPr>
                                        <a:rPr lang="en-CA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CA" sz="1300" b="0" i="1">
                                          <a:latin typeface="Cambria Math" panose="02040503050406030204" pitchFamily="18" charset="0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en-CA" sz="1300" b="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en-CA" sz="1300" b="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CA" sz="1300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A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300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CA" sz="1300" b="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sSub>
                                    <m:sSubPr>
                                      <m:ctrlPr>
                                        <a:rPr lang="en-CA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sz="1300" b="0" i="1">
                                          <a:latin typeface="Cambria Math" panose="02040503050406030204" pitchFamily="18" charset="0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en-CA" sz="1300" b="0" i="1">
                                          <a:latin typeface="Cambria Math" panose="02040503050406030204" pitchFamily="18" charset="0"/>
                                        </a:rPr>
                                        <m:t>3,</m:t>
                                      </m:r>
                                      <m:r>
                                        <a:rPr lang="en-CA" sz="1300" b="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d>
                      <m:sSup>
                        <m:sSupPr>
                          <m:ctrlPr>
                            <a:rPr lang="en-CA" sz="1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1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CA" sz="13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CA" sz="1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sz="13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fr-CA" sz="13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sz="13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fr-CA" sz="1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CA" sz="1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CA" sz="13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fr-CA" sz="1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CA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p>
                                          <m:r>
                                            <a:rPr lang="fr-CA" sz="1300" i="1">
                                              <a:latin typeface="Cambria Math" panose="02040503050406030204" pitchFamily="18" charset="0"/>
                                            </a:rPr>
                                            <m:t>𝑐h𝑙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fr-CA" sz="1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CA" sz="1300" i="1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 lang="fr-CA" sz="13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fr-CA" sz="13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num>
                                    <m:den>
                                      <m:sSubSup>
                                        <m:sSubSupPr>
                                          <m:ctrlPr>
                                            <a:rPr lang="fr-CA" sz="1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fr-CA" sz="1300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fr-CA" sz="1300" i="1">
                                              <a:latin typeface="Cambria Math" panose="02040503050406030204" pitchFamily="18" charset="0"/>
                                            </a:rPr>
                                            <m:t>𝑚𝑎𝑥</m:t>
                                          </m:r>
                                          <m:r>
                                            <a:rPr lang="fr-CA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fr-CA" sz="13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sub>
                                        <m:sup>
                                          <m:r>
                                            <a:rPr lang="fr-CA" sz="13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sup>
                                      </m:sSubSup>
                                      <m:sSubSup>
                                        <m:sSubSupPr>
                                          <m:ctrlPr>
                                            <a:rPr lang="fr-CA" sz="1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fr-CA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  <m:sub>
                                          <m:r>
                                            <a:rPr lang="en-CA" sz="1300" b="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sub>
                                        <m:sup>
                                          <m:r>
                                            <a:rPr lang="en-CA" sz="1300" b="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sup>
                                      </m:sSubSup>
                                      <m:sSup>
                                        <m:sSupPr>
                                          <m:ctrlPr>
                                            <a:rPr lang="fr-CA" sz="1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CA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  <m:sup>
                                          <m:r>
                                            <a:rPr lang="fr-CA" sz="13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sup>
                          </m:sSup>
                        </m:e>
                      </m:d>
                      <m:r>
                        <a:rPr lang="en-CA" sz="1300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sz="13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300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sz="1300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sz="1300" i="1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99ED14-6381-1827-C3D9-EEF83AE32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658" y="2361932"/>
                <a:ext cx="6096000" cy="658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C346E5-30CE-E761-8265-4E8B93F2DF75}"/>
                  </a:ext>
                </a:extLst>
              </p:cNvPr>
              <p:cNvSpPr txBox="1"/>
              <p:nvPr/>
            </p:nvSpPr>
            <p:spPr>
              <a:xfrm>
                <a:off x="5986658" y="3210704"/>
                <a:ext cx="6096000" cy="6578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sz="13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1300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CA" sz="1300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CA" sz="13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13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CA" sz="13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f>
                        <m:fPr>
                          <m:ctrlPr>
                            <a:rPr lang="en-CA" sz="13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CA" sz="1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13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sSubSup>
                                <m:sSubSupPr>
                                  <m:ctrlPr>
                                    <a:rPr lang="en-CA" sz="13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CA" sz="1300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CA" sz="13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CA" sz="13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CA" sz="1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13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sSubSup>
                                <m:sSubSupPr>
                                  <m:ctrlPr>
                                    <a:rPr lang="en-CA" sz="13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CA" sz="1300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CA" sz="13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CA" sz="13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e>
                          </m:d>
                          <m:r>
                            <a:rPr lang="en-CA" sz="13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CA" sz="13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3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CA" sz="13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sSub>
                                <m:sSubPr>
                                  <m:ctrlPr>
                                    <a:rPr lang="en-CA" sz="1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300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CA" sz="1300" i="1">
                                      <a:latin typeface="Cambria Math" panose="02040503050406030204" pitchFamily="18" charset="0"/>
                                    </a:rPr>
                                    <m:t>3,</m:t>
                                  </m:r>
                                  <m:r>
                                    <a:rPr lang="en-CA" sz="13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CA" sz="1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1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CA" sz="13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CA" sz="1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sz="13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fr-CA" sz="13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sz="13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fr-CA" sz="1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CA" sz="1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CA" sz="13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fr-CA" sz="1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CA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p>
                                          <m:r>
                                            <a:rPr lang="fr-CA" sz="1300" i="1">
                                              <a:latin typeface="Cambria Math" panose="02040503050406030204" pitchFamily="18" charset="0"/>
                                            </a:rPr>
                                            <m:t>𝑐h𝑙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fr-CA" sz="1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CA" sz="1300" i="1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 lang="fr-CA" sz="13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fr-CA" sz="13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num>
                                    <m:den>
                                      <m:sSubSup>
                                        <m:sSubSupPr>
                                          <m:ctrlPr>
                                            <a:rPr lang="fr-CA" sz="1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fr-CA" sz="1300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fr-CA" sz="1300" i="1">
                                              <a:latin typeface="Cambria Math" panose="02040503050406030204" pitchFamily="18" charset="0"/>
                                            </a:rPr>
                                            <m:t>𝑚𝑎𝑥</m:t>
                                          </m:r>
                                          <m:r>
                                            <a:rPr lang="fr-CA" sz="13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fr-CA" sz="13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sub>
                                        <m:sup>
                                          <m:r>
                                            <a:rPr lang="fr-CA" sz="13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sup>
                                      </m:sSubSup>
                                      <m:sSubSup>
                                        <m:sSubSupPr>
                                          <m:ctrlPr>
                                            <a:rPr lang="fr-CA" sz="1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fr-CA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  <m:sub>
                                          <m:r>
                                            <a:rPr lang="en-CA" sz="1300" b="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  <m:sup>
                                          <m:r>
                                            <a:rPr lang="en-CA" sz="1300" b="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sup>
                                      </m:sSubSup>
                                      <m:sSup>
                                        <m:sSupPr>
                                          <m:ctrlPr>
                                            <a:rPr lang="fr-CA" sz="1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CA" sz="13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  <m:sup>
                                          <m:r>
                                            <a:rPr lang="fr-CA" sz="13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sup>
                          </m:sSup>
                        </m:e>
                      </m:d>
                      <m:r>
                        <a:rPr lang="en-CA" sz="1300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sz="13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300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sz="13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1300" i="1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C346E5-30CE-E761-8265-4E8B93F2D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658" y="3210704"/>
                <a:ext cx="6096000" cy="6578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A5886C77-186C-1454-A082-BD8607617FA6}"/>
              </a:ext>
            </a:extLst>
          </p:cNvPr>
          <p:cNvSpPr/>
          <p:nvPr/>
        </p:nvSpPr>
        <p:spPr>
          <a:xfrm>
            <a:off x="6050568" y="2268770"/>
            <a:ext cx="5940000" cy="180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8774D9-6971-F4C6-A137-58001CB63BD7}"/>
              </a:ext>
            </a:extLst>
          </p:cNvPr>
          <p:cNvSpPr/>
          <p:nvPr/>
        </p:nvSpPr>
        <p:spPr>
          <a:xfrm>
            <a:off x="5986659" y="1762218"/>
            <a:ext cx="6155234" cy="2315279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815D4C-A69D-02B2-E957-9692CC2B17D5}"/>
              </a:ext>
            </a:extLst>
          </p:cNvPr>
          <p:cNvSpPr/>
          <p:nvPr/>
        </p:nvSpPr>
        <p:spPr>
          <a:xfrm>
            <a:off x="111600" y="490078"/>
            <a:ext cx="5940000" cy="72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0FFA27-C61F-692E-A1AE-C60B1A1AE226}"/>
              </a:ext>
            </a:extLst>
          </p:cNvPr>
          <p:cNvSpPr txBox="1"/>
          <p:nvPr/>
        </p:nvSpPr>
        <p:spPr>
          <a:xfrm>
            <a:off x="2449055" y="665412"/>
            <a:ext cx="126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Si+ N+ L+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19F95E-8BC8-2E41-5A3C-D2503EA0E9A0}"/>
              </a:ext>
            </a:extLst>
          </p:cNvPr>
          <p:cNvSpPr/>
          <p:nvPr/>
        </p:nvSpPr>
        <p:spPr>
          <a:xfrm>
            <a:off x="6040130" y="490078"/>
            <a:ext cx="5940000" cy="72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///ù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91F7F8-FA21-E4BE-9C23-954BA1F3BD98}"/>
              </a:ext>
            </a:extLst>
          </p:cNvPr>
          <p:cNvSpPr txBox="1"/>
          <p:nvPr/>
        </p:nvSpPr>
        <p:spPr>
          <a:xfrm>
            <a:off x="8521856" y="665412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Si- N- L-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A4D450-0F1D-2A73-42DF-245B3259022A}"/>
              </a:ext>
            </a:extLst>
          </p:cNvPr>
          <p:cNvCxnSpPr>
            <a:cxnSpLocks/>
          </p:cNvCxnSpPr>
          <p:nvPr/>
        </p:nvCxnSpPr>
        <p:spPr>
          <a:xfrm>
            <a:off x="6049288" y="1327759"/>
            <a:ext cx="0" cy="72000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6872EEC-3EAA-E79D-8398-BF1C465C17E9}"/>
              </a:ext>
            </a:extLst>
          </p:cNvPr>
          <p:cNvSpPr txBox="1"/>
          <p:nvPr/>
        </p:nvSpPr>
        <p:spPr>
          <a:xfrm>
            <a:off x="5117303" y="21399"/>
            <a:ext cx="195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Nutrient regime V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074A0C-D98A-AEDF-2945-8299600E0435}"/>
              </a:ext>
            </a:extLst>
          </p:cNvPr>
          <p:cNvSpPr/>
          <p:nvPr/>
        </p:nvSpPr>
        <p:spPr>
          <a:xfrm>
            <a:off x="111600" y="4989000"/>
            <a:ext cx="5940000" cy="144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46B7C1-2568-1C55-4EC5-109B7E5C9BAC}"/>
              </a:ext>
            </a:extLst>
          </p:cNvPr>
          <p:cNvSpPr/>
          <p:nvPr/>
        </p:nvSpPr>
        <p:spPr>
          <a:xfrm>
            <a:off x="6051600" y="4991088"/>
            <a:ext cx="5940000" cy="144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995AE886-BD9F-0824-C1D6-2E32934B4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2800" y="5018552"/>
            <a:ext cx="7776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>
            <a:extLst>
              <a:ext uri="{FF2B5EF4-FFF2-40B4-BE49-F238E27FC236}">
                <a16:creationId xmlns:a16="http://schemas.microsoft.com/office/drawing/2014/main" id="{2EA2833E-2747-AAAB-9C67-D31E1DDF2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9305" y="5672304"/>
            <a:ext cx="68459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E89B228-1086-C828-584C-209AD9A5F910}"/>
              </a:ext>
            </a:extLst>
          </p:cNvPr>
          <p:cNvSpPr txBox="1"/>
          <p:nvPr/>
        </p:nvSpPr>
        <p:spPr>
          <a:xfrm>
            <a:off x="9278633" y="4750831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37AEF8-FB27-A0D2-A937-17809C010FA0}"/>
              </a:ext>
            </a:extLst>
          </p:cNvPr>
          <p:cNvSpPr txBox="1"/>
          <p:nvPr/>
        </p:nvSpPr>
        <p:spPr>
          <a:xfrm>
            <a:off x="55961" y="6508766"/>
            <a:ext cx="3647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* Except when there was no silicate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7233B41-3A23-DB02-71A6-D885BBDE6E97}"/>
              </a:ext>
            </a:extLst>
          </p:cNvPr>
          <p:cNvCxnSpPr>
            <a:cxnSpLocks/>
          </p:cNvCxnSpPr>
          <p:nvPr/>
        </p:nvCxnSpPr>
        <p:spPr>
          <a:xfrm>
            <a:off x="6051376" y="4173249"/>
            <a:ext cx="0" cy="72000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>
            <a:extLst>
              <a:ext uri="{FF2B5EF4-FFF2-40B4-BE49-F238E27FC236}">
                <a16:creationId xmlns:a16="http://schemas.microsoft.com/office/drawing/2014/main" id="{9A5058A4-5198-2AAD-C967-81F818E7B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2800" y="5349000"/>
            <a:ext cx="7776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4D7B08E-B9BE-926E-5C6F-929F034C893A}"/>
              </a:ext>
            </a:extLst>
          </p:cNvPr>
          <p:cNvSpPr txBox="1"/>
          <p:nvPr/>
        </p:nvSpPr>
        <p:spPr>
          <a:xfrm>
            <a:off x="3291196" y="512328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A7C6A95-03F6-06AF-F4CD-BEBE7732F0E1}"/>
              </a:ext>
            </a:extLst>
          </p:cNvPr>
          <p:cNvSpPr/>
          <p:nvPr/>
        </p:nvSpPr>
        <p:spPr>
          <a:xfrm>
            <a:off x="1803748" y="2047759"/>
            <a:ext cx="2563076" cy="920909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289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BB82CD-30A6-535B-5927-FF4826F04616}"/>
              </a:ext>
            </a:extLst>
          </p:cNvPr>
          <p:cNvSpPr/>
          <p:nvPr/>
        </p:nvSpPr>
        <p:spPr>
          <a:xfrm>
            <a:off x="111156" y="2266682"/>
            <a:ext cx="5940000" cy="180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B4EC61-681B-0FDD-48BF-2A4A797BBEFB}"/>
                  </a:ext>
                </a:extLst>
              </p:cNvPr>
              <p:cNvSpPr txBox="1"/>
              <p:nvPr/>
            </p:nvSpPr>
            <p:spPr>
              <a:xfrm>
                <a:off x="14092" y="2361932"/>
                <a:ext cx="6096000" cy="7296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f>
                        <m:f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𝑆𝑖</m:t>
                              </m:r>
                              <m:sSub>
                                <m:sSub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𝑂𝐻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𝑆𝑖</m:t>
                              </m:r>
                              <m:sSub>
                                <m:sSub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𝑂𝐻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𝑆𝑖</m:t>
                                  </m:r>
                                  <m:d>
                                    <m:d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𝑂𝐻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4,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CA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B4EC61-681B-0FDD-48BF-2A4A797BB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2" y="2361932"/>
                <a:ext cx="6096000" cy="7296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4D57A8-A9EE-9C0A-F4AB-64B7A01211F1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14092" y="3210704"/>
                <a:ext cx="6096000" cy="388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sSup>
                        <m:s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CA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4D57A8-A9EE-9C0A-F4AB-64B7A0121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2" y="3210704"/>
                <a:ext cx="6096000" cy="388761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99ED14-6381-1827-C3D9-EEF83AE32138}"/>
                  </a:ext>
                </a:extLst>
              </p:cNvPr>
              <p:cNvSpPr txBox="1"/>
              <p:nvPr/>
            </p:nvSpPr>
            <p:spPr>
              <a:xfrm>
                <a:off x="5986658" y="2361932"/>
                <a:ext cx="6096000" cy="7416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f>
                        <m:f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𝑆𝑖</m:t>
                              </m:r>
                              <m:sSub>
                                <m:sSub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𝑂𝐻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𝑆𝑖</m:t>
                              </m:r>
                              <m:sSub>
                                <m:sSub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𝑂𝐻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𝑆𝑖</m:t>
                                  </m:r>
                                  <m:d>
                                    <m:d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𝑂𝐻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4,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CA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99ED14-6381-1827-C3D9-EEF83AE32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658" y="2361932"/>
                <a:ext cx="6096000" cy="7416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C346E5-30CE-E761-8265-4E8B93F2DF75}"/>
                  </a:ext>
                </a:extLst>
              </p:cNvPr>
              <p:cNvSpPr txBox="1"/>
              <p:nvPr/>
            </p:nvSpPr>
            <p:spPr>
              <a:xfrm>
                <a:off x="5986658" y="3210704"/>
                <a:ext cx="6096000" cy="388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sSup>
                        <m:s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CA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C346E5-30CE-E761-8265-4E8B93F2D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658" y="3210704"/>
                <a:ext cx="6096000" cy="388761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A5886C77-186C-1454-A082-BD8607617FA6}"/>
              </a:ext>
            </a:extLst>
          </p:cNvPr>
          <p:cNvSpPr/>
          <p:nvPr/>
        </p:nvSpPr>
        <p:spPr>
          <a:xfrm>
            <a:off x="6050568" y="2268770"/>
            <a:ext cx="5940000" cy="180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815D4C-A69D-02B2-E957-9692CC2B17D5}"/>
              </a:ext>
            </a:extLst>
          </p:cNvPr>
          <p:cNvSpPr/>
          <p:nvPr/>
        </p:nvSpPr>
        <p:spPr>
          <a:xfrm>
            <a:off x="111600" y="490078"/>
            <a:ext cx="5940000" cy="72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0FFA27-C61F-692E-A1AE-C60B1A1AE226}"/>
              </a:ext>
            </a:extLst>
          </p:cNvPr>
          <p:cNvSpPr txBox="1"/>
          <p:nvPr/>
        </p:nvSpPr>
        <p:spPr>
          <a:xfrm>
            <a:off x="2861828" y="544074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Si- N+ L+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19F95E-8BC8-2E41-5A3C-D2503EA0E9A0}"/>
              </a:ext>
            </a:extLst>
          </p:cNvPr>
          <p:cNvSpPr/>
          <p:nvPr/>
        </p:nvSpPr>
        <p:spPr>
          <a:xfrm>
            <a:off x="6040130" y="490078"/>
            <a:ext cx="5940000" cy="72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91F7F8-FA21-E4BE-9C23-954BA1F3BD98}"/>
              </a:ext>
            </a:extLst>
          </p:cNvPr>
          <p:cNvSpPr txBox="1"/>
          <p:nvPr/>
        </p:nvSpPr>
        <p:spPr>
          <a:xfrm>
            <a:off x="8790358" y="544074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Si- N+ L+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A4D450-0F1D-2A73-42DF-245B3259022A}"/>
              </a:ext>
            </a:extLst>
          </p:cNvPr>
          <p:cNvCxnSpPr>
            <a:cxnSpLocks/>
          </p:cNvCxnSpPr>
          <p:nvPr/>
        </p:nvCxnSpPr>
        <p:spPr>
          <a:xfrm>
            <a:off x="6049288" y="1327759"/>
            <a:ext cx="0" cy="72000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6872EEC-3EAA-E79D-8398-BF1C465C17E9}"/>
              </a:ext>
            </a:extLst>
          </p:cNvPr>
          <p:cNvSpPr txBox="1"/>
          <p:nvPr/>
        </p:nvSpPr>
        <p:spPr>
          <a:xfrm>
            <a:off x="5079632" y="21399"/>
            <a:ext cx="2032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Nutrient regime VI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074A0C-D98A-AEDF-2945-8299600E0435}"/>
              </a:ext>
            </a:extLst>
          </p:cNvPr>
          <p:cNvSpPr/>
          <p:nvPr/>
        </p:nvSpPr>
        <p:spPr>
          <a:xfrm>
            <a:off x="111600" y="4989000"/>
            <a:ext cx="5940000" cy="144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46B7C1-2568-1C55-4EC5-109B7E5C9BAC}"/>
              </a:ext>
            </a:extLst>
          </p:cNvPr>
          <p:cNvSpPr/>
          <p:nvPr/>
        </p:nvSpPr>
        <p:spPr>
          <a:xfrm>
            <a:off x="6051600" y="4991088"/>
            <a:ext cx="5940000" cy="144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7233B41-3A23-DB02-71A6-D885BBDE6E97}"/>
              </a:ext>
            </a:extLst>
          </p:cNvPr>
          <p:cNvCxnSpPr>
            <a:cxnSpLocks/>
          </p:cNvCxnSpPr>
          <p:nvPr/>
        </p:nvCxnSpPr>
        <p:spPr>
          <a:xfrm>
            <a:off x="6051376" y="4173249"/>
            <a:ext cx="0" cy="72000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4E5004F7-6AC1-7FCC-FB60-8CCB7E1317EF}"/>
              </a:ext>
            </a:extLst>
          </p:cNvPr>
          <p:cNvSpPr/>
          <p:nvPr/>
        </p:nvSpPr>
        <p:spPr>
          <a:xfrm>
            <a:off x="7793264" y="3028658"/>
            <a:ext cx="2563076" cy="920909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EFA4BF9-6B79-9984-E95F-6762739E95E3}"/>
              </a:ext>
            </a:extLst>
          </p:cNvPr>
          <p:cNvGrpSpPr>
            <a:grpSpLocks noChangeAspect="1"/>
          </p:cNvGrpSpPr>
          <p:nvPr/>
        </p:nvGrpSpPr>
        <p:grpSpPr>
          <a:xfrm>
            <a:off x="8743224" y="5351088"/>
            <a:ext cx="556753" cy="720000"/>
            <a:chOff x="6143845" y="2294862"/>
            <a:chExt cx="421760" cy="545425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A9A91BB-36CD-EC9F-B3A4-9D4B69CEA4B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72200" y="2300287"/>
              <a:ext cx="339588" cy="540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5FB8847-488E-1012-877E-4A6561F7BD9B}"/>
                </a:ext>
              </a:extLst>
            </p:cNvPr>
            <p:cNvSpPr/>
            <p:nvPr/>
          </p:nvSpPr>
          <p:spPr>
            <a:xfrm>
              <a:off x="6145618" y="2413590"/>
              <a:ext cx="419987" cy="7974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1D464D6-1E68-9AA9-2EFA-E48EE0E757D9}"/>
                </a:ext>
              </a:extLst>
            </p:cNvPr>
            <p:cNvSpPr/>
            <p:nvPr/>
          </p:nvSpPr>
          <p:spPr>
            <a:xfrm>
              <a:off x="6143845" y="2294862"/>
              <a:ext cx="419987" cy="7974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AFDF3B3-3564-BF61-FCF3-2AB02AA175B7}"/>
                </a:ext>
              </a:extLst>
            </p:cNvPr>
            <p:cNvSpPr/>
            <p:nvPr/>
          </p:nvSpPr>
          <p:spPr>
            <a:xfrm rot="5400000">
              <a:off x="6170427" y="2534093"/>
              <a:ext cx="419987" cy="7974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398077D-308C-0E66-A171-12084EDCB2FF}"/>
                </a:ext>
              </a:extLst>
            </p:cNvPr>
            <p:cNvSpPr/>
            <p:nvPr/>
          </p:nvSpPr>
          <p:spPr>
            <a:xfrm>
              <a:off x="6225363" y="2530549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598E1F9-C861-6C67-4008-37F55D6F2DEF}"/>
                </a:ext>
              </a:extLst>
            </p:cNvPr>
            <p:cNvSpPr/>
            <p:nvPr/>
          </p:nvSpPr>
          <p:spPr>
            <a:xfrm>
              <a:off x="6207641" y="2581939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9A2EAC2-C4EB-5BD4-B072-DE4B98854E28}"/>
                </a:ext>
              </a:extLst>
            </p:cNvPr>
            <p:cNvSpPr/>
            <p:nvPr/>
          </p:nvSpPr>
          <p:spPr>
            <a:xfrm>
              <a:off x="6285615" y="2553587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013E25F-3DCC-ED5B-8C30-A2FB82178CED}"/>
                </a:ext>
              </a:extLst>
            </p:cNvPr>
            <p:cNvSpPr/>
            <p:nvPr/>
          </p:nvSpPr>
          <p:spPr>
            <a:xfrm>
              <a:off x="6259031" y="2601431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3E5AD00-1AF7-0D7C-8C40-43EB0EC43FE7}"/>
                </a:ext>
              </a:extLst>
            </p:cNvPr>
            <p:cNvSpPr/>
            <p:nvPr/>
          </p:nvSpPr>
          <p:spPr>
            <a:xfrm>
              <a:off x="6220045" y="2652822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B70F9E8-C020-5F2D-A60A-0B1310026850}"/>
                </a:ext>
              </a:extLst>
            </p:cNvPr>
            <p:cNvSpPr/>
            <p:nvPr/>
          </p:nvSpPr>
          <p:spPr>
            <a:xfrm>
              <a:off x="6287384" y="2640417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4DBF76E-73EC-2B38-F416-F2CAD96F1C32}"/>
                </a:ext>
              </a:extLst>
            </p:cNvPr>
            <p:cNvSpPr/>
            <p:nvPr/>
          </p:nvSpPr>
          <p:spPr>
            <a:xfrm>
              <a:off x="6248398" y="2697124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F36E4E74-C0E2-4515-29D5-50671B72509C}"/>
                </a:ext>
              </a:extLst>
            </p:cNvPr>
            <p:cNvSpPr/>
            <p:nvPr/>
          </p:nvSpPr>
          <p:spPr>
            <a:xfrm>
              <a:off x="6278523" y="2727249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06867E1-B979-1C25-D663-31595DA89E0E}"/>
                </a:ext>
              </a:extLst>
            </p:cNvPr>
            <p:cNvSpPr/>
            <p:nvPr/>
          </p:nvSpPr>
          <p:spPr>
            <a:xfrm>
              <a:off x="6436239" y="2496876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42E430D-B631-5DC0-9BCA-F85F700D90BD}"/>
                </a:ext>
              </a:extLst>
            </p:cNvPr>
            <p:cNvSpPr/>
            <p:nvPr/>
          </p:nvSpPr>
          <p:spPr>
            <a:xfrm>
              <a:off x="6445100" y="2569532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F2B89DC-B327-B798-96AE-C1CF04E563C2}"/>
                </a:ext>
              </a:extLst>
            </p:cNvPr>
            <p:cNvSpPr/>
            <p:nvPr/>
          </p:nvSpPr>
          <p:spPr>
            <a:xfrm>
              <a:off x="6432695" y="2604974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A8A54DEF-2B8F-0164-8CF5-2623FC3E4896}"/>
                </a:ext>
              </a:extLst>
            </p:cNvPr>
            <p:cNvSpPr/>
            <p:nvPr/>
          </p:nvSpPr>
          <p:spPr>
            <a:xfrm>
              <a:off x="6441555" y="2672313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5A260BA-D4F4-E918-2A55-17D8DB1E8695}"/>
                </a:ext>
              </a:extLst>
            </p:cNvPr>
            <p:cNvSpPr/>
            <p:nvPr/>
          </p:nvSpPr>
          <p:spPr>
            <a:xfrm>
              <a:off x="6450415" y="2755601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C242F74-E89D-976E-821A-9C2049F8C6A5}"/>
                </a:ext>
              </a:extLst>
            </p:cNvPr>
            <p:cNvSpPr/>
            <p:nvPr/>
          </p:nvSpPr>
          <p:spPr>
            <a:xfrm>
              <a:off x="6282068" y="2363970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350088A-A738-A986-DBE8-185DE13BA4E7}"/>
                </a:ext>
              </a:extLst>
            </p:cNvPr>
            <p:cNvSpPr/>
            <p:nvPr/>
          </p:nvSpPr>
          <p:spPr>
            <a:xfrm>
              <a:off x="6290928" y="2431309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CF24A106-6551-47E8-C0C1-B4C230CF356A}"/>
              </a:ext>
            </a:extLst>
          </p:cNvPr>
          <p:cNvSpPr/>
          <p:nvPr/>
        </p:nvSpPr>
        <p:spPr>
          <a:xfrm>
            <a:off x="1789354" y="3028658"/>
            <a:ext cx="2563076" cy="920909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">
            <a:extLst>
              <a:ext uri="{FF2B5EF4-FFF2-40B4-BE49-F238E27FC236}">
                <a16:creationId xmlns:a16="http://schemas.microsoft.com/office/drawing/2014/main" id="{6347C978-E3CD-AC46-0C91-E7592EA28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9305" y="5020230"/>
            <a:ext cx="68459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FFE7C52E-A15D-4BCE-9732-F1A1A66F7187}"/>
              </a:ext>
            </a:extLst>
          </p:cNvPr>
          <p:cNvGrpSpPr>
            <a:grpSpLocks noChangeAspect="1"/>
          </p:cNvGrpSpPr>
          <p:nvPr/>
        </p:nvGrpSpPr>
        <p:grpSpPr>
          <a:xfrm>
            <a:off x="2792515" y="5676469"/>
            <a:ext cx="556753" cy="720000"/>
            <a:chOff x="6143845" y="2294862"/>
            <a:chExt cx="421760" cy="545425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23DAD6E6-5077-6914-3B61-524EABADB5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72200" y="2300287"/>
              <a:ext cx="339588" cy="540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7F4F9231-C80F-EAFD-CC07-B1221E6A614B}"/>
                </a:ext>
              </a:extLst>
            </p:cNvPr>
            <p:cNvSpPr/>
            <p:nvPr/>
          </p:nvSpPr>
          <p:spPr>
            <a:xfrm>
              <a:off x="6145618" y="2413590"/>
              <a:ext cx="419987" cy="7974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D2C573F-FD01-D140-3F06-0D6E5A1CEB17}"/>
                </a:ext>
              </a:extLst>
            </p:cNvPr>
            <p:cNvSpPr/>
            <p:nvPr/>
          </p:nvSpPr>
          <p:spPr>
            <a:xfrm>
              <a:off x="6143845" y="2294862"/>
              <a:ext cx="419987" cy="7974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27E6956-5214-1F19-9829-47C8BE149832}"/>
                </a:ext>
              </a:extLst>
            </p:cNvPr>
            <p:cNvSpPr/>
            <p:nvPr/>
          </p:nvSpPr>
          <p:spPr>
            <a:xfrm rot="5400000">
              <a:off x="6170427" y="2534093"/>
              <a:ext cx="419987" cy="7974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5A16B3F-187D-1CD0-0B3F-D6DBC777A9EC}"/>
                </a:ext>
              </a:extLst>
            </p:cNvPr>
            <p:cNvSpPr/>
            <p:nvPr/>
          </p:nvSpPr>
          <p:spPr>
            <a:xfrm>
              <a:off x="6225363" y="2530549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F6CE3F0-05B3-CE9E-C82D-4907CAE5BD9F}"/>
                </a:ext>
              </a:extLst>
            </p:cNvPr>
            <p:cNvSpPr/>
            <p:nvPr/>
          </p:nvSpPr>
          <p:spPr>
            <a:xfrm>
              <a:off x="6207641" y="2581939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CA4C111E-35D2-22FC-CCF5-0F6121D11BE5}"/>
                </a:ext>
              </a:extLst>
            </p:cNvPr>
            <p:cNvSpPr/>
            <p:nvPr/>
          </p:nvSpPr>
          <p:spPr>
            <a:xfrm>
              <a:off x="6285615" y="2553587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C22FAF0C-FA8E-AF0E-E6B3-6A19B8051F9C}"/>
                </a:ext>
              </a:extLst>
            </p:cNvPr>
            <p:cNvSpPr/>
            <p:nvPr/>
          </p:nvSpPr>
          <p:spPr>
            <a:xfrm>
              <a:off x="6259031" y="2601431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CD618F59-DA98-4AC9-F38E-6FC3951EB53A}"/>
                </a:ext>
              </a:extLst>
            </p:cNvPr>
            <p:cNvSpPr/>
            <p:nvPr/>
          </p:nvSpPr>
          <p:spPr>
            <a:xfrm>
              <a:off x="6220045" y="2652822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905BBB0C-BB21-8A44-1CF5-E1D671F9F4DB}"/>
                </a:ext>
              </a:extLst>
            </p:cNvPr>
            <p:cNvSpPr/>
            <p:nvPr/>
          </p:nvSpPr>
          <p:spPr>
            <a:xfrm>
              <a:off x="6287384" y="2640417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C5B2CD7C-EF00-7BC8-C964-D0C4CF5D4A1F}"/>
                </a:ext>
              </a:extLst>
            </p:cNvPr>
            <p:cNvSpPr/>
            <p:nvPr/>
          </p:nvSpPr>
          <p:spPr>
            <a:xfrm>
              <a:off x="6248398" y="2697124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0F637F60-6153-1062-8A31-E88CC82023A9}"/>
                </a:ext>
              </a:extLst>
            </p:cNvPr>
            <p:cNvSpPr/>
            <p:nvPr/>
          </p:nvSpPr>
          <p:spPr>
            <a:xfrm>
              <a:off x="6278523" y="2727249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D8CC6CF-F036-9728-EFCC-119385D44330}"/>
                </a:ext>
              </a:extLst>
            </p:cNvPr>
            <p:cNvSpPr/>
            <p:nvPr/>
          </p:nvSpPr>
          <p:spPr>
            <a:xfrm>
              <a:off x="6436239" y="2496876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D65FA84A-2F2D-EB29-19DA-E8E979B4EB49}"/>
                </a:ext>
              </a:extLst>
            </p:cNvPr>
            <p:cNvSpPr/>
            <p:nvPr/>
          </p:nvSpPr>
          <p:spPr>
            <a:xfrm>
              <a:off x="6445100" y="2569532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1E6186F4-B68A-ADA9-A81F-69D47DE714F2}"/>
                </a:ext>
              </a:extLst>
            </p:cNvPr>
            <p:cNvSpPr/>
            <p:nvPr/>
          </p:nvSpPr>
          <p:spPr>
            <a:xfrm>
              <a:off x="6432695" y="2604974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E66205E9-E9C4-E0EF-A8FA-75C2FAC4FA9C}"/>
                </a:ext>
              </a:extLst>
            </p:cNvPr>
            <p:cNvSpPr/>
            <p:nvPr/>
          </p:nvSpPr>
          <p:spPr>
            <a:xfrm>
              <a:off x="6441555" y="2672313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B9FB2695-1502-7749-26EC-4DFC97ECEFAF}"/>
                </a:ext>
              </a:extLst>
            </p:cNvPr>
            <p:cNvSpPr/>
            <p:nvPr/>
          </p:nvSpPr>
          <p:spPr>
            <a:xfrm>
              <a:off x="6450415" y="2755601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AC670EC7-A730-7811-4FFD-C03D3A90D9DC}"/>
                </a:ext>
              </a:extLst>
            </p:cNvPr>
            <p:cNvSpPr/>
            <p:nvPr/>
          </p:nvSpPr>
          <p:spPr>
            <a:xfrm>
              <a:off x="6282068" y="2363970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3A6A9D6-B880-33F8-EF3F-7FF3EAA06845}"/>
                </a:ext>
              </a:extLst>
            </p:cNvPr>
            <p:cNvSpPr/>
            <p:nvPr/>
          </p:nvSpPr>
          <p:spPr>
            <a:xfrm>
              <a:off x="6290928" y="2431309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8" name="Picture 2">
            <a:extLst>
              <a:ext uri="{FF2B5EF4-FFF2-40B4-BE49-F238E27FC236}">
                <a16:creationId xmlns:a16="http://schemas.microsoft.com/office/drawing/2014/main" id="{E0A4C617-C924-3A2A-9F2D-56F4F64CE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41" y="5349000"/>
            <a:ext cx="7776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2C8E9DEF-7894-DE36-4B25-E6B6FD65086A}"/>
              </a:ext>
            </a:extLst>
          </p:cNvPr>
          <p:cNvSpPr txBox="1"/>
          <p:nvPr/>
        </p:nvSpPr>
        <p:spPr>
          <a:xfrm>
            <a:off x="2479537" y="512328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2F123DD-6B96-E026-73FB-65F011AC9000}"/>
              </a:ext>
            </a:extLst>
          </p:cNvPr>
          <p:cNvSpPr txBox="1"/>
          <p:nvPr/>
        </p:nvSpPr>
        <p:spPr>
          <a:xfrm>
            <a:off x="55961" y="6508766"/>
            <a:ext cx="3647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* Except when there was no silicate</a:t>
            </a:r>
          </a:p>
        </p:txBody>
      </p:sp>
    </p:spTree>
    <p:extLst>
      <p:ext uri="{BB962C8B-B14F-4D97-AF65-F5344CB8AC3E}">
        <p14:creationId xmlns:p14="http://schemas.microsoft.com/office/powerpoint/2010/main" val="3310077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8293BE-9EA2-AE47-8AA0-6AD3A0BB3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F199B-52DE-544A-9677-36712BD79905}" type="slidenum">
              <a:rPr lang="en-CA"/>
              <a:t>6</a:t>
            </a:fld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20FB35-2DFE-8446-B425-23CA2D176092}"/>
              </a:ext>
            </a:extLst>
          </p:cNvPr>
          <p:cNvSpPr txBox="1"/>
          <p:nvPr/>
        </p:nvSpPr>
        <p:spPr>
          <a:xfrm>
            <a:off x="33793" y="-27833"/>
            <a:ext cx="121300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CA" sz="2800"/>
              <a:t>template</a:t>
            </a:r>
          </a:p>
        </p:txBody>
      </p:sp>
    </p:spTree>
    <p:extLst>
      <p:ext uri="{BB962C8B-B14F-4D97-AF65-F5344CB8AC3E}">
        <p14:creationId xmlns:p14="http://schemas.microsoft.com/office/powerpoint/2010/main" val="3693940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BB82CD-30A6-535B-5927-FF4826F04616}"/>
              </a:ext>
            </a:extLst>
          </p:cNvPr>
          <p:cNvSpPr/>
          <p:nvPr/>
        </p:nvSpPr>
        <p:spPr>
          <a:xfrm>
            <a:off x="111156" y="2266682"/>
            <a:ext cx="5940000" cy="180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B4EC61-681B-0FDD-48BF-2A4A797BBEFB}"/>
                  </a:ext>
                </a:extLst>
              </p:cNvPr>
              <p:cNvSpPr txBox="1"/>
              <p:nvPr/>
            </p:nvSpPr>
            <p:spPr>
              <a:xfrm>
                <a:off x="14092" y="2361932"/>
                <a:ext cx="6096000" cy="7020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sz="1400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1400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CA" sz="1400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CA" sz="14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1400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CA" sz="14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CA" sz="1400" b="0" i="0">
                          <a:latin typeface="Cambria Math" panose="02040503050406030204" pitchFamily="18" charset="0"/>
                        </a:rPr>
                        <m:t>min</m:t>
                      </m:r>
                      <m:d>
                        <m:dPr>
                          <m:ctrlPr>
                            <a:rPr lang="en-CA" sz="1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CA" sz="14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1400" b="0" i="1">
                                      <a:latin typeface="Cambria Math" panose="02040503050406030204" pitchFamily="18" charset="0"/>
                                    </a:rPr>
                                    <m:t>𝑆𝑖</m:t>
                                  </m:r>
                                  <m:sSub>
                                    <m:sSubPr>
                                      <m:ctrlP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CA" sz="1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sz="1400" b="0" i="1">
                                              <a:latin typeface="Cambria Math" panose="02040503050406030204" pitchFamily="18" charset="0"/>
                                            </a:rPr>
                                            <m:t>𝑂𝐻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1400" b="0" i="1">
                                      <a:latin typeface="Cambria Math" panose="02040503050406030204" pitchFamily="18" charset="0"/>
                                    </a:rPr>
                                    <m:t>𝑆𝑖</m:t>
                                  </m:r>
                                  <m:sSub>
                                    <m:sSubPr>
                                      <m:ctrlP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CA" sz="1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sz="1400" b="0" i="1">
                                              <a:latin typeface="Cambria Math" panose="02040503050406030204" pitchFamily="18" charset="0"/>
                                            </a:rPr>
                                            <m:t>𝑂𝐻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CA" sz="1400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A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400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  <m:t>𝑆𝑖</m:t>
                                      </m:r>
                                      <m:d>
                                        <m:dPr>
                                          <m:ctrlPr>
                                            <a:rPr lang="en-CA" sz="1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sz="1400" b="0" i="1">
                                              <a:latin typeface="Cambria Math" panose="02040503050406030204" pitchFamily="18" charset="0"/>
                                            </a:rPr>
                                            <m:t>𝑂𝐻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  <m:t>4,</m:t>
                                      </m:r>
                                      <m: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  <m:r>
                            <a:rPr lang="en-CA" sz="14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CA" sz="14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1400" b="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sSubSup>
                                    <m:sSubSupPr>
                                      <m:ctrlP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sup>
                                  </m:sSubSup>
                                </m:e>
                              </m:d>
                            </m:num>
                            <m:den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1400" b="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sSubSup>
                                    <m:sSubSupPr>
                                      <m:ctrlP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CA" sz="1400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A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400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CA" sz="1400" b="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sSub>
                                    <m:sSubPr>
                                      <m:ctrlP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  <m:t>3,</m:t>
                                      </m:r>
                                      <m: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d>
                      <m:d>
                        <m:dPr>
                          <m:ctrlPr>
                            <a:rPr lang="en-CA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sz="14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fr-CA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sz="1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fr-CA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CA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CA" sz="1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p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𝑐h𝑙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fr-CA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num>
                                    <m:den>
                                      <m:sSubSup>
                                        <m:sSubSupPr>
                                          <m:ctrlP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𝑚𝑎𝑥</m:t>
                                          </m:r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sub>
                                        <m:sup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sup>
                                      </m:sSubSup>
                                      <m:sSup>
                                        <m:sSupPr>
                                          <m:ctrlP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  <m:sup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sup>
                                      </m:sSup>
                                      <m:sSup>
                                        <m:sSupPr>
                                          <m:ctrlP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  <m:sup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sup>
                          </m:sSup>
                        </m:e>
                      </m:d>
                      <m:r>
                        <a:rPr lang="en-CA" sz="1400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sz="1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400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sz="1400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sz="1400" i="1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B4EC61-681B-0FDD-48BF-2A4A797BB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2" y="2361932"/>
                <a:ext cx="6096000" cy="7020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4D57A8-A9EE-9C0A-F4AB-64B7A01211F1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14092" y="3210704"/>
                <a:ext cx="6096000" cy="701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1400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CA" sz="1400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CA" sz="14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14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CA" sz="14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f>
                        <m:fPr>
                          <m:ctrlPr>
                            <a:rPr lang="en-CA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CA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sSubSup>
                                <m:sSubSupPr>
                                  <m:ctrlPr>
                                    <a:rPr lang="en-CA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CA" sz="1400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CA" sz="1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CA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CA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sSubSup>
                                <m:sSubSupPr>
                                  <m:ctrlPr>
                                    <a:rPr lang="en-CA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CA" sz="1400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CA" sz="1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CA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e>
                          </m:d>
                          <m:r>
                            <a:rPr lang="en-CA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CA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CA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sSub>
                                <m:sSubPr>
                                  <m:ctrlPr>
                                    <a:rPr lang="en-CA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400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CA" sz="1400" i="1">
                                      <a:latin typeface="Cambria Math" panose="02040503050406030204" pitchFamily="18" charset="0"/>
                                    </a:rPr>
                                    <m:t>3,</m:t>
                                  </m:r>
                                  <m:r>
                                    <a:rPr lang="en-CA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d>
                        <m:dPr>
                          <m:ctrlPr>
                            <a:rPr lang="en-CA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sz="14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fr-CA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sz="1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fr-CA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CA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CA" sz="1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p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𝑐h𝑙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fr-CA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num>
                                    <m:den>
                                      <m:sSubSup>
                                        <m:sSubSupPr>
                                          <m:ctrlP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𝑚𝑎𝑥</m:t>
                                          </m:r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sub>
                                        <m:sup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sup>
                                      </m:sSubSup>
                                      <m:sSup>
                                        <m:sSupPr>
                                          <m:ctrlP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  <m:sup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sup>
                                      </m:sSup>
                                      <m:sSup>
                                        <m:sSupPr>
                                          <m:ctrlP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  <m:sup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sup>
                          </m:sSup>
                        </m:e>
                      </m:d>
                      <m:r>
                        <a:rPr lang="en-CA" sz="1400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sz="1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400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sz="14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1400" i="1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4D57A8-A9EE-9C0A-F4AB-64B7A0121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2" y="3210704"/>
                <a:ext cx="6096000" cy="7014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99ED14-6381-1827-C3D9-EEF83AE32138}"/>
                  </a:ext>
                </a:extLst>
              </p:cNvPr>
              <p:cNvSpPr txBox="1"/>
              <p:nvPr/>
            </p:nvSpPr>
            <p:spPr>
              <a:xfrm>
                <a:off x="5986658" y="2361932"/>
                <a:ext cx="6096000" cy="7020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sz="1400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1400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CA" sz="1400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CA" sz="14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1400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CA" sz="14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CA" sz="1400" b="0" i="0">
                          <a:latin typeface="Cambria Math" panose="02040503050406030204" pitchFamily="18" charset="0"/>
                        </a:rPr>
                        <m:t>min</m:t>
                      </m:r>
                      <m:d>
                        <m:dPr>
                          <m:ctrlPr>
                            <a:rPr lang="en-CA" sz="1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CA" sz="14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1400" b="0" i="1">
                                      <a:latin typeface="Cambria Math" panose="02040503050406030204" pitchFamily="18" charset="0"/>
                                    </a:rPr>
                                    <m:t>𝑆𝑖</m:t>
                                  </m:r>
                                  <m:sSub>
                                    <m:sSubPr>
                                      <m:ctrlP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CA" sz="1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sz="1400" b="0" i="1">
                                              <a:latin typeface="Cambria Math" panose="02040503050406030204" pitchFamily="18" charset="0"/>
                                            </a:rPr>
                                            <m:t>𝑂𝐻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1400" b="0" i="1">
                                      <a:latin typeface="Cambria Math" panose="02040503050406030204" pitchFamily="18" charset="0"/>
                                    </a:rPr>
                                    <m:t>𝑆𝑖</m:t>
                                  </m:r>
                                  <m:sSub>
                                    <m:sSubPr>
                                      <m:ctrlP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CA" sz="1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sz="1400" b="0" i="1">
                                              <a:latin typeface="Cambria Math" panose="02040503050406030204" pitchFamily="18" charset="0"/>
                                            </a:rPr>
                                            <m:t>𝑂𝐻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CA" sz="1400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A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400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  <m:t>𝑆𝑖</m:t>
                                      </m:r>
                                      <m:d>
                                        <m:dPr>
                                          <m:ctrlPr>
                                            <a:rPr lang="en-CA" sz="1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sz="1400" b="0" i="1">
                                              <a:latin typeface="Cambria Math" panose="02040503050406030204" pitchFamily="18" charset="0"/>
                                            </a:rPr>
                                            <m:t>𝑂𝐻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  <m:t>4,</m:t>
                                      </m:r>
                                      <m: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  <m:r>
                            <a:rPr lang="en-CA" sz="14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CA" sz="14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1400" b="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sSubSup>
                                    <m:sSubSupPr>
                                      <m:ctrlP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sup>
                                  </m:sSubSup>
                                </m:e>
                              </m:d>
                            </m:num>
                            <m:den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1400" b="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sSubSup>
                                    <m:sSubSupPr>
                                      <m:ctrlP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CA" sz="1400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A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400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CA" sz="1400" b="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sSub>
                                    <m:sSubPr>
                                      <m:ctrlP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  <m:t>3,</m:t>
                                      </m:r>
                                      <m:r>
                                        <a:rPr lang="en-CA" sz="1400" b="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d>
                      <m:d>
                        <m:dPr>
                          <m:ctrlPr>
                            <a:rPr lang="en-CA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sz="14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fr-CA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sz="1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fr-CA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CA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CA" sz="1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p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𝑐h𝑙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fr-CA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num>
                                    <m:den>
                                      <m:sSubSup>
                                        <m:sSubSupPr>
                                          <m:ctrlP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𝑚𝑎𝑥</m:t>
                                          </m:r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sub>
                                        <m:sup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sup>
                                      </m:sSubSup>
                                      <m:sSup>
                                        <m:sSupPr>
                                          <m:ctrlP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  <m:sup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sup>
                                      </m:sSup>
                                      <m:sSup>
                                        <m:sSupPr>
                                          <m:ctrlP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  <m:sup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sup>
                          </m:sSup>
                        </m:e>
                      </m:d>
                      <m:r>
                        <a:rPr lang="en-CA" sz="1400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sz="1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400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sz="1400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sz="1400" i="1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99ED14-6381-1827-C3D9-EEF83AE32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658" y="2361932"/>
                <a:ext cx="6096000" cy="7020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C346E5-30CE-E761-8265-4E8B93F2DF75}"/>
                  </a:ext>
                </a:extLst>
              </p:cNvPr>
              <p:cNvSpPr txBox="1"/>
              <p:nvPr/>
            </p:nvSpPr>
            <p:spPr>
              <a:xfrm>
                <a:off x="5986658" y="3210704"/>
                <a:ext cx="6096000" cy="701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1400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CA" sz="1400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CA" sz="14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14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CA" sz="14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f>
                        <m:fPr>
                          <m:ctrlPr>
                            <a:rPr lang="en-CA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CA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sSubSup>
                                <m:sSubSupPr>
                                  <m:ctrlPr>
                                    <a:rPr lang="en-CA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CA" sz="1400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CA" sz="1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CA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CA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sSubSup>
                                <m:sSubSupPr>
                                  <m:ctrlPr>
                                    <a:rPr lang="en-CA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CA" sz="1400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CA" sz="1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CA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e>
                          </m:d>
                          <m:r>
                            <a:rPr lang="en-CA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CA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CA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sSub>
                                <m:sSubPr>
                                  <m:ctrlPr>
                                    <a:rPr lang="en-CA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400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CA" sz="1400" i="1">
                                      <a:latin typeface="Cambria Math" panose="02040503050406030204" pitchFamily="18" charset="0"/>
                                    </a:rPr>
                                    <m:t>3,</m:t>
                                  </m:r>
                                  <m:r>
                                    <a:rPr lang="en-CA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d>
                        <m:dPr>
                          <m:ctrlPr>
                            <a:rPr lang="en-CA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sz="14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fr-CA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sz="1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fr-CA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CA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CA" sz="1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p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𝑐h𝑙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fr-CA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num>
                                    <m:den>
                                      <m:sSubSup>
                                        <m:sSubSupPr>
                                          <m:ctrlP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𝑚𝑎𝑥</m:t>
                                          </m:r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sub>
                                        <m:sup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sup>
                                      </m:sSubSup>
                                      <m:sSup>
                                        <m:sSupPr>
                                          <m:ctrlP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  <m:sup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sup>
                                      </m:sSup>
                                      <m:sSup>
                                        <m:sSupPr>
                                          <m:ctrlP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  <m:sup>
                                          <m:r>
                                            <a:rPr lang="fr-CA" sz="14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sup>
                          </m:sSup>
                        </m:e>
                      </m:d>
                      <m:r>
                        <a:rPr lang="en-CA" sz="1400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sz="1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400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sz="14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1400" i="1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C346E5-30CE-E761-8265-4E8B93F2D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658" y="3210704"/>
                <a:ext cx="6096000" cy="7014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A5886C77-186C-1454-A082-BD8607617FA6}"/>
              </a:ext>
            </a:extLst>
          </p:cNvPr>
          <p:cNvSpPr/>
          <p:nvPr/>
        </p:nvSpPr>
        <p:spPr>
          <a:xfrm>
            <a:off x="6050568" y="2268770"/>
            <a:ext cx="5940000" cy="180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815D4C-A69D-02B2-E957-9692CC2B17D5}"/>
              </a:ext>
            </a:extLst>
          </p:cNvPr>
          <p:cNvSpPr/>
          <p:nvPr/>
        </p:nvSpPr>
        <p:spPr>
          <a:xfrm>
            <a:off x="111600" y="490078"/>
            <a:ext cx="5940000" cy="72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0FFA27-C61F-692E-A1AE-C60B1A1AE226}"/>
              </a:ext>
            </a:extLst>
          </p:cNvPr>
          <p:cNvSpPr txBox="1"/>
          <p:nvPr/>
        </p:nvSpPr>
        <p:spPr>
          <a:xfrm>
            <a:off x="2861828" y="544074"/>
            <a:ext cx="439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Si-</a:t>
            </a:r>
          </a:p>
          <a:p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N-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19F95E-8BC8-2E41-5A3C-D2503EA0E9A0}"/>
              </a:ext>
            </a:extLst>
          </p:cNvPr>
          <p:cNvSpPr/>
          <p:nvPr/>
        </p:nvSpPr>
        <p:spPr>
          <a:xfrm>
            <a:off x="6040130" y="490078"/>
            <a:ext cx="5940000" cy="72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91F7F8-FA21-E4BE-9C23-954BA1F3BD98}"/>
              </a:ext>
            </a:extLst>
          </p:cNvPr>
          <p:cNvSpPr txBox="1"/>
          <p:nvPr/>
        </p:nvSpPr>
        <p:spPr>
          <a:xfrm>
            <a:off x="8790358" y="544074"/>
            <a:ext cx="439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Si-</a:t>
            </a:r>
          </a:p>
          <a:p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N-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A4D450-0F1D-2A73-42DF-245B3259022A}"/>
              </a:ext>
            </a:extLst>
          </p:cNvPr>
          <p:cNvCxnSpPr>
            <a:cxnSpLocks/>
          </p:cNvCxnSpPr>
          <p:nvPr/>
        </p:nvCxnSpPr>
        <p:spPr>
          <a:xfrm>
            <a:off x="6049288" y="1327759"/>
            <a:ext cx="0" cy="72000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6872EEC-3EAA-E79D-8398-BF1C465C17E9}"/>
              </a:ext>
            </a:extLst>
          </p:cNvPr>
          <p:cNvSpPr txBox="1"/>
          <p:nvPr/>
        </p:nvSpPr>
        <p:spPr>
          <a:xfrm>
            <a:off x="5130928" y="21399"/>
            <a:ext cx="1930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Nutrient regime x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074A0C-D98A-AEDF-2945-8299600E0435}"/>
              </a:ext>
            </a:extLst>
          </p:cNvPr>
          <p:cNvSpPr/>
          <p:nvPr/>
        </p:nvSpPr>
        <p:spPr>
          <a:xfrm>
            <a:off x="111600" y="4989000"/>
            <a:ext cx="5940000" cy="144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00F2B30-BEBC-C6D4-4E87-4D0D7E7F7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2800" y="5016464"/>
            <a:ext cx="7776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D05F266-CDE4-F478-5621-84C7C89D9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9305" y="5670216"/>
            <a:ext cx="68459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849B515-1465-5B4A-B240-47F14DC8A4A4}"/>
              </a:ext>
            </a:extLst>
          </p:cNvPr>
          <p:cNvSpPr txBox="1"/>
          <p:nvPr/>
        </p:nvSpPr>
        <p:spPr>
          <a:xfrm>
            <a:off x="3314169" y="4748743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46B7C1-2568-1C55-4EC5-109B7E5C9BAC}"/>
              </a:ext>
            </a:extLst>
          </p:cNvPr>
          <p:cNvSpPr/>
          <p:nvPr/>
        </p:nvSpPr>
        <p:spPr>
          <a:xfrm>
            <a:off x="6051600" y="4991088"/>
            <a:ext cx="5940000" cy="1440000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///</a:t>
            </a:r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995AE886-BD9F-0824-C1D6-2E32934B4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2800" y="5018552"/>
            <a:ext cx="7776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>
            <a:extLst>
              <a:ext uri="{FF2B5EF4-FFF2-40B4-BE49-F238E27FC236}">
                <a16:creationId xmlns:a16="http://schemas.microsoft.com/office/drawing/2014/main" id="{2EA2833E-2747-AAAB-9C67-D31E1DDF2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9305" y="5672304"/>
            <a:ext cx="68459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E89B228-1086-C828-584C-209AD9A5F910}"/>
              </a:ext>
            </a:extLst>
          </p:cNvPr>
          <p:cNvSpPr txBox="1"/>
          <p:nvPr/>
        </p:nvSpPr>
        <p:spPr>
          <a:xfrm>
            <a:off x="9278633" y="4750831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37AEF8-FB27-A0D2-A937-17809C010FA0}"/>
              </a:ext>
            </a:extLst>
          </p:cNvPr>
          <p:cNvSpPr txBox="1"/>
          <p:nvPr/>
        </p:nvSpPr>
        <p:spPr>
          <a:xfrm>
            <a:off x="55961" y="6508766"/>
            <a:ext cx="3647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* Except when there was no silicate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7233B41-3A23-DB02-71A6-D885BBDE6E97}"/>
              </a:ext>
            </a:extLst>
          </p:cNvPr>
          <p:cNvCxnSpPr>
            <a:cxnSpLocks/>
          </p:cNvCxnSpPr>
          <p:nvPr/>
        </p:nvCxnSpPr>
        <p:spPr>
          <a:xfrm>
            <a:off x="6051376" y="4173249"/>
            <a:ext cx="0" cy="72000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87ED0FB-35B3-5177-4AEC-630A5233470F}"/>
              </a:ext>
            </a:extLst>
          </p:cNvPr>
          <p:cNvGrpSpPr>
            <a:grpSpLocks noChangeAspect="1"/>
          </p:cNvGrpSpPr>
          <p:nvPr/>
        </p:nvGrpSpPr>
        <p:grpSpPr>
          <a:xfrm>
            <a:off x="4001893" y="5622156"/>
            <a:ext cx="556753" cy="720000"/>
            <a:chOff x="6143845" y="2294862"/>
            <a:chExt cx="421760" cy="545425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F59BD8D-E864-E664-5901-D3E14FBE96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72200" y="2300287"/>
              <a:ext cx="339588" cy="540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F841E97-1ABB-6A89-950D-2FC5951402C9}"/>
                </a:ext>
              </a:extLst>
            </p:cNvPr>
            <p:cNvSpPr/>
            <p:nvPr/>
          </p:nvSpPr>
          <p:spPr>
            <a:xfrm>
              <a:off x="6145618" y="2413590"/>
              <a:ext cx="419987" cy="7974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852A710-5C41-37C0-301D-E9DCFB816F45}"/>
                </a:ext>
              </a:extLst>
            </p:cNvPr>
            <p:cNvSpPr/>
            <p:nvPr/>
          </p:nvSpPr>
          <p:spPr>
            <a:xfrm>
              <a:off x="6143845" y="2294862"/>
              <a:ext cx="419987" cy="7974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C92C011-97B7-4688-7B1B-8D503A079729}"/>
                </a:ext>
              </a:extLst>
            </p:cNvPr>
            <p:cNvSpPr/>
            <p:nvPr/>
          </p:nvSpPr>
          <p:spPr>
            <a:xfrm rot="5400000">
              <a:off x="6170427" y="2534093"/>
              <a:ext cx="419987" cy="7974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71F260D-3A2A-0A57-2461-CB7769D027A5}"/>
                </a:ext>
              </a:extLst>
            </p:cNvPr>
            <p:cNvSpPr/>
            <p:nvPr/>
          </p:nvSpPr>
          <p:spPr>
            <a:xfrm>
              <a:off x="6225363" y="2530549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7915853-9522-13F8-A275-59E156DEB677}"/>
                </a:ext>
              </a:extLst>
            </p:cNvPr>
            <p:cNvSpPr/>
            <p:nvPr/>
          </p:nvSpPr>
          <p:spPr>
            <a:xfrm>
              <a:off x="6207641" y="2581939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D7BB4FE3-FEB1-1C53-ECF5-564F3F260309}"/>
                </a:ext>
              </a:extLst>
            </p:cNvPr>
            <p:cNvSpPr/>
            <p:nvPr/>
          </p:nvSpPr>
          <p:spPr>
            <a:xfrm>
              <a:off x="6285615" y="2553587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D461970-C78B-7829-58B7-28FB2DEC0959}"/>
                </a:ext>
              </a:extLst>
            </p:cNvPr>
            <p:cNvSpPr/>
            <p:nvPr/>
          </p:nvSpPr>
          <p:spPr>
            <a:xfrm>
              <a:off x="6259031" y="2601431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78BFAC0-192B-67BA-D9B7-FB50E2200E0E}"/>
                </a:ext>
              </a:extLst>
            </p:cNvPr>
            <p:cNvSpPr/>
            <p:nvPr/>
          </p:nvSpPr>
          <p:spPr>
            <a:xfrm>
              <a:off x="6220045" y="2652822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31BDCE6C-FC65-5B8C-BF60-D52480EBEDBE}"/>
                </a:ext>
              </a:extLst>
            </p:cNvPr>
            <p:cNvSpPr/>
            <p:nvPr/>
          </p:nvSpPr>
          <p:spPr>
            <a:xfrm>
              <a:off x="6287384" y="2640417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3FED418A-3BC7-23AD-2C87-6598738118D5}"/>
                </a:ext>
              </a:extLst>
            </p:cNvPr>
            <p:cNvSpPr/>
            <p:nvPr/>
          </p:nvSpPr>
          <p:spPr>
            <a:xfrm>
              <a:off x="6248398" y="2697124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5B94F2BE-22EB-6702-0176-5C0E68329162}"/>
                </a:ext>
              </a:extLst>
            </p:cNvPr>
            <p:cNvSpPr/>
            <p:nvPr/>
          </p:nvSpPr>
          <p:spPr>
            <a:xfrm>
              <a:off x="6278523" y="2727249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95324C9E-D980-4A8D-2956-8DC675023825}"/>
                </a:ext>
              </a:extLst>
            </p:cNvPr>
            <p:cNvSpPr/>
            <p:nvPr/>
          </p:nvSpPr>
          <p:spPr>
            <a:xfrm>
              <a:off x="6436239" y="2496876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956D531-B65B-134B-B376-07FC37C5CE09}"/>
                </a:ext>
              </a:extLst>
            </p:cNvPr>
            <p:cNvSpPr/>
            <p:nvPr/>
          </p:nvSpPr>
          <p:spPr>
            <a:xfrm>
              <a:off x="6445100" y="2569532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F875810-F551-BA4E-5C3A-EA76AA9E11F7}"/>
                </a:ext>
              </a:extLst>
            </p:cNvPr>
            <p:cNvSpPr/>
            <p:nvPr/>
          </p:nvSpPr>
          <p:spPr>
            <a:xfrm>
              <a:off x="6432695" y="2604974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357581E-00F9-70F8-9C89-4B18E8ABAF7F}"/>
                </a:ext>
              </a:extLst>
            </p:cNvPr>
            <p:cNvSpPr/>
            <p:nvPr/>
          </p:nvSpPr>
          <p:spPr>
            <a:xfrm>
              <a:off x="6441555" y="2672313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814D11CC-D73E-A756-42B8-DB1BB81D89A7}"/>
                </a:ext>
              </a:extLst>
            </p:cNvPr>
            <p:cNvSpPr/>
            <p:nvPr/>
          </p:nvSpPr>
          <p:spPr>
            <a:xfrm>
              <a:off x="6450415" y="2755601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167815A-550B-B9E8-8EA5-9224E4F1C573}"/>
                </a:ext>
              </a:extLst>
            </p:cNvPr>
            <p:cNvSpPr/>
            <p:nvPr/>
          </p:nvSpPr>
          <p:spPr>
            <a:xfrm>
              <a:off x="6282068" y="2363970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E9B7694-CDF9-DE5A-A8AB-50E2A726E1D0}"/>
                </a:ext>
              </a:extLst>
            </p:cNvPr>
            <p:cNvSpPr/>
            <p:nvPr/>
          </p:nvSpPr>
          <p:spPr>
            <a:xfrm>
              <a:off x="6290928" y="2431309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3" name="Group 1052">
            <a:extLst>
              <a:ext uri="{FF2B5EF4-FFF2-40B4-BE49-F238E27FC236}">
                <a16:creationId xmlns:a16="http://schemas.microsoft.com/office/drawing/2014/main" id="{A7E735AB-3ED3-FD01-3231-702681A3564B}"/>
              </a:ext>
            </a:extLst>
          </p:cNvPr>
          <p:cNvGrpSpPr>
            <a:grpSpLocks noChangeAspect="1"/>
          </p:cNvGrpSpPr>
          <p:nvPr/>
        </p:nvGrpSpPr>
        <p:grpSpPr>
          <a:xfrm>
            <a:off x="9740019" y="5666849"/>
            <a:ext cx="556753" cy="720000"/>
            <a:chOff x="6143845" y="2294862"/>
            <a:chExt cx="421760" cy="545425"/>
          </a:xfrm>
        </p:grpSpPr>
        <p:sp>
          <p:nvSpPr>
            <p:cNvPr id="1054" name="Oval 1053">
              <a:extLst>
                <a:ext uri="{FF2B5EF4-FFF2-40B4-BE49-F238E27FC236}">
                  <a16:creationId xmlns:a16="http://schemas.microsoft.com/office/drawing/2014/main" id="{4B4F0CC6-DF9F-566D-ED33-27D7EE4552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72200" y="2300287"/>
              <a:ext cx="339588" cy="540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5" name="Oval 1054">
              <a:extLst>
                <a:ext uri="{FF2B5EF4-FFF2-40B4-BE49-F238E27FC236}">
                  <a16:creationId xmlns:a16="http://schemas.microsoft.com/office/drawing/2014/main" id="{7489C7F7-6480-0F20-C4A3-3C2395AFCA29}"/>
                </a:ext>
              </a:extLst>
            </p:cNvPr>
            <p:cNvSpPr/>
            <p:nvPr/>
          </p:nvSpPr>
          <p:spPr>
            <a:xfrm>
              <a:off x="6145618" y="2413590"/>
              <a:ext cx="419987" cy="7974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6" name="Oval 1055">
              <a:extLst>
                <a:ext uri="{FF2B5EF4-FFF2-40B4-BE49-F238E27FC236}">
                  <a16:creationId xmlns:a16="http://schemas.microsoft.com/office/drawing/2014/main" id="{6EE8ED8D-398F-7F58-1187-264267143434}"/>
                </a:ext>
              </a:extLst>
            </p:cNvPr>
            <p:cNvSpPr/>
            <p:nvPr/>
          </p:nvSpPr>
          <p:spPr>
            <a:xfrm>
              <a:off x="6143845" y="2294862"/>
              <a:ext cx="419987" cy="7974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7" name="Oval 1056">
              <a:extLst>
                <a:ext uri="{FF2B5EF4-FFF2-40B4-BE49-F238E27FC236}">
                  <a16:creationId xmlns:a16="http://schemas.microsoft.com/office/drawing/2014/main" id="{712E735A-C3B4-CE73-BB2A-6E2D989B74D6}"/>
                </a:ext>
              </a:extLst>
            </p:cNvPr>
            <p:cNvSpPr/>
            <p:nvPr/>
          </p:nvSpPr>
          <p:spPr>
            <a:xfrm rot="5400000">
              <a:off x="6170427" y="2534093"/>
              <a:ext cx="419987" cy="7974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8" name="Oval 1057">
              <a:extLst>
                <a:ext uri="{FF2B5EF4-FFF2-40B4-BE49-F238E27FC236}">
                  <a16:creationId xmlns:a16="http://schemas.microsoft.com/office/drawing/2014/main" id="{88AC0D1F-D0D0-FEC7-6A39-819455814DDD}"/>
                </a:ext>
              </a:extLst>
            </p:cNvPr>
            <p:cNvSpPr/>
            <p:nvPr/>
          </p:nvSpPr>
          <p:spPr>
            <a:xfrm>
              <a:off x="6225363" y="2530549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9" name="Oval 1058">
              <a:extLst>
                <a:ext uri="{FF2B5EF4-FFF2-40B4-BE49-F238E27FC236}">
                  <a16:creationId xmlns:a16="http://schemas.microsoft.com/office/drawing/2014/main" id="{D33757CC-BC1F-9CFA-2DB7-C9E2A70F87F0}"/>
                </a:ext>
              </a:extLst>
            </p:cNvPr>
            <p:cNvSpPr/>
            <p:nvPr/>
          </p:nvSpPr>
          <p:spPr>
            <a:xfrm>
              <a:off x="6207641" y="2581939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0" name="Oval 1059">
              <a:extLst>
                <a:ext uri="{FF2B5EF4-FFF2-40B4-BE49-F238E27FC236}">
                  <a16:creationId xmlns:a16="http://schemas.microsoft.com/office/drawing/2014/main" id="{00ACB1F6-71CF-8AE1-1481-A9B50BAACAAB}"/>
                </a:ext>
              </a:extLst>
            </p:cNvPr>
            <p:cNvSpPr/>
            <p:nvPr/>
          </p:nvSpPr>
          <p:spPr>
            <a:xfrm>
              <a:off x="6285615" y="2553587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1" name="Oval 1060">
              <a:extLst>
                <a:ext uri="{FF2B5EF4-FFF2-40B4-BE49-F238E27FC236}">
                  <a16:creationId xmlns:a16="http://schemas.microsoft.com/office/drawing/2014/main" id="{8B838616-8592-4874-4442-AF55C2AF7DB7}"/>
                </a:ext>
              </a:extLst>
            </p:cNvPr>
            <p:cNvSpPr/>
            <p:nvPr/>
          </p:nvSpPr>
          <p:spPr>
            <a:xfrm>
              <a:off x="6259031" y="2601431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2" name="Oval 1061">
              <a:extLst>
                <a:ext uri="{FF2B5EF4-FFF2-40B4-BE49-F238E27FC236}">
                  <a16:creationId xmlns:a16="http://schemas.microsoft.com/office/drawing/2014/main" id="{73088C89-F0A2-F0A9-C6D5-45EAADCF209C}"/>
                </a:ext>
              </a:extLst>
            </p:cNvPr>
            <p:cNvSpPr/>
            <p:nvPr/>
          </p:nvSpPr>
          <p:spPr>
            <a:xfrm>
              <a:off x="6220045" y="2652822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3" name="Oval 1062">
              <a:extLst>
                <a:ext uri="{FF2B5EF4-FFF2-40B4-BE49-F238E27FC236}">
                  <a16:creationId xmlns:a16="http://schemas.microsoft.com/office/drawing/2014/main" id="{C7A804AC-81BE-779E-A534-43A1A6FFF6D2}"/>
                </a:ext>
              </a:extLst>
            </p:cNvPr>
            <p:cNvSpPr/>
            <p:nvPr/>
          </p:nvSpPr>
          <p:spPr>
            <a:xfrm>
              <a:off x="6287384" y="2640417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4" name="Oval 1063">
              <a:extLst>
                <a:ext uri="{FF2B5EF4-FFF2-40B4-BE49-F238E27FC236}">
                  <a16:creationId xmlns:a16="http://schemas.microsoft.com/office/drawing/2014/main" id="{2C3681F9-E865-9A16-0139-34A1FF07872A}"/>
                </a:ext>
              </a:extLst>
            </p:cNvPr>
            <p:cNvSpPr/>
            <p:nvPr/>
          </p:nvSpPr>
          <p:spPr>
            <a:xfrm>
              <a:off x="6248398" y="2697124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5" name="Oval 1064">
              <a:extLst>
                <a:ext uri="{FF2B5EF4-FFF2-40B4-BE49-F238E27FC236}">
                  <a16:creationId xmlns:a16="http://schemas.microsoft.com/office/drawing/2014/main" id="{BCC26342-F1C7-5F90-7D66-694961FB1A52}"/>
                </a:ext>
              </a:extLst>
            </p:cNvPr>
            <p:cNvSpPr/>
            <p:nvPr/>
          </p:nvSpPr>
          <p:spPr>
            <a:xfrm>
              <a:off x="6278523" y="2727249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6" name="Oval 1065">
              <a:extLst>
                <a:ext uri="{FF2B5EF4-FFF2-40B4-BE49-F238E27FC236}">
                  <a16:creationId xmlns:a16="http://schemas.microsoft.com/office/drawing/2014/main" id="{EF4502A8-4CB1-AD17-75B0-0AF06618AD2A}"/>
                </a:ext>
              </a:extLst>
            </p:cNvPr>
            <p:cNvSpPr/>
            <p:nvPr/>
          </p:nvSpPr>
          <p:spPr>
            <a:xfrm>
              <a:off x="6436239" y="2496876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7" name="Oval 1066">
              <a:extLst>
                <a:ext uri="{FF2B5EF4-FFF2-40B4-BE49-F238E27FC236}">
                  <a16:creationId xmlns:a16="http://schemas.microsoft.com/office/drawing/2014/main" id="{B718F0E7-3BEA-1D9C-6F87-042BF6D8C531}"/>
                </a:ext>
              </a:extLst>
            </p:cNvPr>
            <p:cNvSpPr/>
            <p:nvPr/>
          </p:nvSpPr>
          <p:spPr>
            <a:xfrm>
              <a:off x="6445100" y="2569532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8" name="Oval 1067">
              <a:extLst>
                <a:ext uri="{FF2B5EF4-FFF2-40B4-BE49-F238E27FC236}">
                  <a16:creationId xmlns:a16="http://schemas.microsoft.com/office/drawing/2014/main" id="{5A66AF4E-47D0-258F-AC6E-A56964AE4E6F}"/>
                </a:ext>
              </a:extLst>
            </p:cNvPr>
            <p:cNvSpPr/>
            <p:nvPr/>
          </p:nvSpPr>
          <p:spPr>
            <a:xfrm>
              <a:off x="6432695" y="2604974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9" name="Oval 1068">
              <a:extLst>
                <a:ext uri="{FF2B5EF4-FFF2-40B4-BE49-F238E27FC236}">
                  <a16:creationId xmlns:a16="http://schemas.microsoft.com/office/drawing/2014/main" id="{8E726593-7D78-CC3C-64BF-8EFE7D1995F6}"/>
                </a:ext>
              </a:extLst>
            </p:cNvPr>
            <p:cNvSpPr/>
            <p:nvPr/>
          </p:nvSpPr>
          <p:spPr>
            <a:xfrm>
              <a:off x="6441555" y="2672313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0" name="Oval 1069">
              <a:extLst>
                <a:ext uri="{FF2B5EF4-FFF2-40B4-BE49-F238E27FC236}">
                  <a16:creationId xmlns:a16="http://schemas.microsoft.com/office/drawing/2014/main" id="{794F6B1C-CDFF-96B9-0364-8AB16949A3BA}"/>
                </a:ext>
              </a:extLst>
            </p:cNvPr>
            <p:cNvSpPr/>
            <p:nvPr/>
          </p:nvSpPr>
          <p:spPr>
            <a:xfrm>
              <a:off x="6450415" y="2755601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1" name="Oval 1070">
              <a:extLst>
                <a:ext uri="{FF2B5EF4-FFF2-40B4-BE49-F238E27FC236}">
                  <a16:creationId xmlns:a16="http://schemas.microsoft.com/office/drawing/2014/main" id="{3D9A6B3D-808F-E4AE-EF21-BE0FCDB59425}"/>
                </a:ext>
              </a:extLst>
            </p:cNvPr>
            <p:cNvSpPr/>
            <p:nvPr/>
          </p:nvSpPr>
          <p:spPr>
            <a:xfrm>
              <a:off x="6282068" y="2363970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2" name="Oval 1071">
              <a:extLst>
                <a:ext uri="{FF2B5EF4-FFF2-40B4-BE49-F238E27FC236}">
                  <a16:creationId xmlns:a16="http://schemas.microsoft.com/office/drawing/2014/main" id="{DAB4A3DB-9626-7810-522C-F9675A21A7E4}"/>
                </a:ext>
              </a:extLst>
            </p:cNvPr>
            <p:cNvSpPr/>
            <p:nvPr/>
          </p:nvSpPr>
          <p:spPr>
            <a:xfrm>
              <a:off x="6290928" y="2431309"/>
              <a:ext cx="10800" cy="1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F031A92C-0397-EABD-E901-9BF752C8BD4B}"/>
              </a:ext>
            </a:extLst>
          </p:cNvPr>
          <p:cNvSpPr/>
          <p:nvPr/>
        </p:nvSpPr>
        <p:spPr>
          <a:xfrm>
            <a:off x="5986659" y="1762218"/>
            <a:ext cx="6155234" cy="2315279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4FA3E5C-B0FC-2186-4269-7572206B547D}"/>
              </a:ext>
            </a:extLst>
          </p:cNvPr>
          <p:cNvSpPr/>
          <p:nvPr/>
        </p:nvSpPr>
        <p:spPr>
          <a:xfrm>
            <a:off x="-35723" y="1760508"/>
            <a:ext cx="6155234" cy="2315279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48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7164</TotalTime>
  <Words>256</Words>
  <Application>Microsoft Macintosh PowerPoint</Application>
  <PresentationFormat>Widescreen</PresentationFormat>
  <Paragraphs>91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Maxime Benoît-Gagné</dc:creator>
  <cp:lastModifiedBy>Maxime Benoît-Gagné</cp:lastModifiedBy>
  <cp:revision>21</cp:revision>
  <dcterms:created xsi:type="dcterms:W3CDTF">2024-10-23T19:58:44Z</dcterms:created>
  <dcterms:modified xsi:type="dcterms:W3CDTF">2025-06-28T01:45:56Z</dcterms:modified>
</cp:coreProperties>
</file>